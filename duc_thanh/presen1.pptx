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JetBrains Mono Medium" panose="020B0604020202020204" charset="0"/>
      <p:regular r:id="rId13"/>
    </p:embeddedFont>
    <p:embeddedFont>
      <p:font typeface="Tinos" panose="020B0604020202020204" charset="0"/>
      <p:regular r:id="rId14"/>
    </p:embeddedFont>
    <p:embeddedFont>
      <p:font typeface="Tinos Bold" panose="020B0604020202020204" charset="0"/>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177" autoAdjust="0"/>
  </p:normalViewPr>
  <p:slideViewPr>
    <p:cSldViewPr snapToGrid="0" snapToObjects="1">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3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dirty="0">
                <a:solidFill>
                  <a:schemeClr val="tx1"/>
                </a:solidFill>
                <a:effectLst/>
                <a:latin typeface="+mn-lt"/>
                <a:ea typeface="+mn-ea"/>
                <a:cs typeface="+mn-cs"/>
              </a:rPr>
              <a:t>NANH:</a:t>
            </a:r>
            <a:r>
              <a:rPr lang="en-US" sz="1200" b="0" i="0" u="none" strike="noStrike" kern="1200" dirty="0">
                <a:solidFill>
                  <a:schemeClr val="tx1"/>
                </a:solidFill>
                <a:effectLst/>
                <a:latin typeface="+mn-lt"/>
                <a:ea typeface="+mn-ea"/>
                <a:cs typeface="+mn-cs"/>
              </a:rPr>
              <a:t> </a:t>
            </a:r>
            <a:r>
              <a:rPr lang="en-US" dirty="0"/>
              <a:t>Today I will present a preliminary insight connecting synthetic data generation with privacy-aware intrusion detection.</a:t>
            </a:r>
          </a:p>
          <a:p>
            <a:r>
              <a:rPr lang="en-US" dirty="0"/>
              <a:t>We use CTGAN to learn the statistical patterns and feature relationships in tabular data. Our testing shows that CTGAN preserves the original data’s distributions and relationships without producing exact copies of real records.</a:t>
            </a:r>
          </a:p>
          <a:p>
            <a:r>
              <a:rPr lang="en-US" dirty="0"/>
              <a:t>This suggests CTGAN learns the underlying structure rather than simply memorizing individual records, making it useful for privacy-aware synthetic data generation.</a:t>
            </a:r>
          </a:p>
          <a:p>
            <a:r>
              <a:rPr lang="en-US" dirty="0"/>
              <a:t>This insight forms the foundation of </a:t>
            </a:r>
            <a:r>
              <a:rPr lang="en-US" b="1" dirty="0" err="1"/>
              <a:t>SynthGuard</a:t>
            </a:r>
            <a:r>
              <a:rPr lang="en-US" dirty="0"/>
              <a:t>: generating realistic synthetic data that maintains statistical utility while reducing the risk of exposing individual records, particularly for rare cyberattacks.</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HMINH:</a:t>
            </a:r>
            <a:r>
              <a:rPr lang="en-US" sz="1200" b="0" i="0" u="none" strike="noStrike" kern="1200" dirty="0">
                <a:solidFill>
                  <a:schemeClr val="tx1"/>
                </a:solidFill>
                <a:effectLst/>
                <a:latin typeface="+mn-lt"/>
                <a:ea typeface="+mn-ea"/>
                <a:cs typeface="+mn-cs"/>
              </a:rPr>
              <a:t> “Our starting point was an experiment using the Adult dataset and CTGAN. The purpose was not to reproduce original records one by one. Instead, CTGAN was evaluated as a learner of statistical structure.</a:t>
            </a:r>
            <a:endParaRPr lang="en-US" b="0" dirty="0">
              <a:effectLst/>
            </a:endParaRPr>
          </a:p>
          <a:p>
            <a:pPr rtl="0"/>
            <a:r>
              <a:rPr lang="en-US" sz="1200" b="0" i="0" u="none" strike="noStrike" kern="1200" dirty="0">
                <a:solidFill>
                  <a:schemeClr val="tx1"/>
                </a:solidFill>
                <a:effectLst/>
                <a:latin typeface="+mn-lt"/>
                <a:ea typeface="+mn-ea"/>
                <a:cs typeface="+mn-cs"/>
              </a:rPr>
              <a:t>The Adult dataset contains mixed numerical and categorical attributes. That makes it useful for testing whether a conditional generative model can learn the kinds of relationships that appear in realistic tabular data.</a:t>
            </a:r>
            <a:endParaRPr lang="en-US" b="0" dirty="0">
              <a:effectLst/>
            </a:endParaRPr>
          </a:p>
          <a:p>
            <a:pPr rtl="0"/>
            <a:r>
              <a:rPr lang="en-US" sz="1200" b="0" i="0" u="none" strike="noStrike" kern="1200" dirty="0">
                <a:solidFill>
                  <a:schemeClr val="tx1"/>
                </a:solidFill>
                <a:effectLst/>
                <a:latin typeface="+mn-lt"/>
                <a:ea typeface="+mn-ea"/>
                <a:cs typeface="+mn-cs"/>
              </a:rPr>
              <a:t>What mattered in this experiment was whether the model could capture three things: the distributions of individual features, the relationships among categories, and correlations across features.</a:t>
            </a:r>
            <a:endParaRPr lang="en-US" b="0" dirty="0">
              <a:effectLst/>
            </a:endParaRPr>
          </a:p>
          <a:p>
            <a:pPr rtl="0"/>
            <a:r>
              <a:rPr lang="en-US" sz="1200" b="0" i="0" u="none" strike="noStrike" kern="1200" dirty="0">
                <a:solidFill>
                  <a:schemeClr val="tx1"/>
                </a:solidFill>
                <a:effectLst/>
                <a:latin typeface="+mn-lt"/>
                <a:ea typeface="+mn-ea"/>
                <a:cs typeface="+mn-cs"/>
              </a:rPr>
              <a:t>For example, a useful generator should not merely generate plausible ages or plausible occupations separately. It should also learn whether certain combinations of attributes tend to occur together. This is what makes synthetic records coherent rather than random.”</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HMINH:</a:t>
            </a:r>
            <a:r>
              <a:rPr lang="en-US" sz="1200" b="0" i="0" u="none" strike="noStrike" kern="1200" dirty="0">
                <a:solidFill>
                  <a:schemeClr val="tx1"/>
                </a:solidFill>
                <a:effectLst/>
                <a:latin typeface="+mn-lt"/>
                <a:ea typeface="+mn-ea"/>
                <a:cs typeface="+mn-cs"/>
              </a:rPr>
              <a:t> “A helpful analogy is an artist learning a visual style. An artist can understand recurring colors, shapes, and composition without copying every original painting. In the same way, a generative model can learn recurring patterns in a dataset and create new plausible samples.</a:t>
            </a:r>
            <a:endParaRPr lang="en-US" b="0" dirty="0">
              <a:effectLst/>
            </a:endParaRPr>
          </a:p>
          <a:p>
            <a:pPr rtl="0"/>
            <a:r>
              <a:rPr lang="en-US" sz="1200" b="0" i="0" u="none" strike="noStrike" kern="1200" dirty="0">
                <a:solidFill>
                  <a:schemeClr val="tx1"/>
                </a:solidFill>
                <a:effectLst/>
                <a:latin typeface="+mn-lt"/>
                <a:ea typeface="+mn-ea"/>
                <a:cs typeface="+mn-cs"/>
              </a:rPr>
              <a:t>For CTGAN, that learning includes feature distributions, categorical relationships, and cross-feature correlations. These capabilities are valuable because they can produce data that retains useful analytical structure.</a:t>
            </a:r>
            <a:endParaRPr lang="en-US" b="0" dirty="0">
              <a:effectLst/>
            </a:endParaRPr>
          </a:p>
          <a:p>
            <a:pPr rtl="0"/>
            <a:r>
              <a:rPr lang="en-US" sz="1200" b="0" i="0" u="none" strike="noStrike" kern="1200" dirty="0">
                <a:solidFill>
                  <a:schemeClr val="tx1"/>
                </a:solidFill>
                <a:effectLst/>
                <a:latin typeface="+mn-lt"/>
                <a:ea typeface="+mn-ea"/>
                <a:cs typeface="+mn-cs"/>
              </a:rPr>
              <a:t>However, this creates an important distinction. Learning patterns in a dataset is a utility question. Privacy is a different question. A model may appear to generate new records while still retaining information about particular records from its training data.”</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HUYEN:</a:t>
            </a:r>
            <a:r>
              <a:rPr lang="en-US" sz="1200" b="0" i="0" u="none" strike="noStrike" kern="1200" dirty="0">
                <a:solidFill>
                  <a:schemeClr val="tx1"/>
                </a:solidFill>
                <a:effectLst/>
                <a:latin typeface="+mn-lt"/>
                <a:ea typeface="+mn-ea"/>
                <a:cs typeface="+mn-cs"/>
              </a:rPr>
              <a:t> “This leads to the main privacy problem: statistical learning is not automatically a privacy guarantee.</a:t>
            </a:r>
            <a:endParaRPr lang="en-US" b="0" dirty="0">
              <a:effectLst/>
            </a:endParaRPr>
          </a:p>
          <a:p>
            <a:pPr rtl="0"/>
            <a:r>
              <a:rPr lang="en-US" sz="1200" b="0" i="0" u="none" strike="noStrike" kern="1200" dirty="0">
                <a:solidFill>
                  <a:schemeClr val="tx1"/>
                </a:solidFill>
                <a:effectLst/>
                <a:latin typeface="+mn-lt"/>
                <a:ea typeface="+mn-ea"/>
                <a:cs typeface="+mn-cs"/>
              </a:rPr>
              <a:t>When we say that a generator learned the data distribution, we are describing what the model captures. We are not proving that no individual training record can be inferred from the model or its outputs.</a:t>
            </a:r>
            <a:endParaRPr lang="en-US" b="0" dirty="0">
              <a:effectLst/>
            </a:endParaRPr>
          </a:p>
          <a:p>
            <a:pPr rtl="0"/>
            <a:r>
              <a:rPr lang="en-US" sz="1200" b="0" i="0" u="none" strike="noStrike" kern="1200" dirty="0">
                <a:solidFill>
                  <a:schemeClr val="tx1"/>
                </a:solidFill>
                <a:effectLst/>
                <a:latin typeface="+mn-lt"/>
                <a:ea typeface="+mn-ea"/>
                <a:cs typeface="+mn-cs"/>
              </a:rPr>
              <a:t>The open risk is memorization. Some training records may be represented too closely, particularly if they are unusual, rare, or highly distinctive.</a:t>
            </a:r>
            <a:endParaRPr lang="en-US" b="0" dirty="0">
              <a:effectLst/>
            </a:endParaRPr>
          </a:p>
          <a:p>
            <a:pPr rtl="0"/>
            <a:r>
              <a:rPr lang="en-US" sz="1200" b="0" i="0" u="none" strike="noStrike" kern="1200" dirty="0">
                <a:solidFill>
                  <a:schemeClr val="tx1"/>
                </a:solidFill>
                <a:effectLst/>
                <a:latin typeface="+mn-lt"/>
                <a:ea typeface="+mn-ea"/>
                <a:cs typeface="+mn-cs"/>
              </a:rPr>
              <a:t>So the practical question is not simply, ‘Does the synthetic dataset look realistic?’ The more important question is, ‘Can an attacker use the generated data or the generator to determine whether a specific record was part of the training set?’</a:t>
            </a:r>
            <a:endParaRPr lang="en-US" b="0" dirty="0">
              <a:effectLst/>
            </a:endParaRPr>
          </a:p>
          <a:p>
            <a:pPr rtl="0"/>
            <a:r>
              <a:rPr lang="en-US" sz="1200" b="0" i="0" u="none" strike="noStrike" kern="1200" dirty="0">
                <a:solidFill>
                  <a:schemeClr val="tx1"/>
                </a:solidFill>
                <a:effectLst/>
                <a:latin typeface="+mn-lt"/>
                <a:ea typeface="+mn-ea"/>
                <a:cs typeface="+mn-cs"/>
              </a:rPr>
              <a:t>That is the transition from general data quality evaluation to measurable privacy evaluation.”</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TUAN:</a:t>
            </a:r>
            <a:r>
              <a:rPr lang="en-US" sz="1200" b="0" i="0" u="none" strike="noStrike" kern="1200" dirty="0">
                <a:solidFill>
                  <a:schemeClr val="tx1"/>
                </a:solidFill>
                <a:effectLst/>
                <a:latin typeface="+mn-lt"/>
                <a:ea typeface="+mn-ea"/>
                <a:cs typeface="+mn-cs"/>
              </a:rPr>
              <a:t> “Membership Inference Attacks, or MIAs, make this privacy question testable at the record level.</a:t>
            </a:r>
            <a:endParaRPr lang="en-US" b="0" dirty="0">
              <a:effectLst/>
            </a:endParaRPr>
          </a:p>
          <a:p>
            <a:pPr rtl="0"/>
            <a:r>
              <a:rPr lang="en-US" sz="1200" b="0" i="0" u="none" strike="noStrike" kern="1200" dirty="0">
                <a:solidFill>
                  <a:schemeClr val="tx1"/>
                </a:solidFill>
                <a:effectLst/>
                <a:latin typeface="+mn-lt"/>
                <a:ea typeface="+mn-ea"/>
                <a:cs typeface="+mn-cs"/>
              </a:rPr>
              <a:t>A membership inference procedure interacts with the generator or with its outputs. It then evaluates how closely a target record resembles what the model has learned. Based on that evidence, it estimates whether the record was likely included in the original training data.</a:t>
            </a:r>
            <a:endParaRPr lang="en-US" b="0" dirty="0">
              <a:effectLst/>
            </a:endParaRPr>
          </a:p>
          <a:p>
            <a:pPr rtl="0"/>
            <a:r>
              <a:rPr lang="en-US" sz="1200" b="0" i="0" u="none" strike="noStrike" kern="1200" dirty="0">
                <a:solidFill>
                  <a:schemeClr val="tx1"/>
                </a:solidFill>
                <a:effectLst/>
                <a:latin typeface="+mn-lt"/>
                <a:ea typeface="+mn-ea"/>
                <a:cs typeface="+mn-cs"/>
              </a:rPr>
              <a:t>The process can be understood in three stages.</a:t>
            </a:r>
            <a:endParaRPr lang="en-US" b="0" dirty="0">
              <a:effectLst/>
            </a:endParaRPr>
          </a:p>
          <a:p>
            <a:pPr rtl="0"/>
            <a:r>
              <a:rPr lang="en-US" sz="1200" b="0" i="0" u="none" strike="noStrike" kern="1200" dirty="0">
                <a:solidFill>
                  <a:schemeClr val="tx1"/>
                </a:solidFill>
                <a:effectLst/>
                <a:latin typeface="+mn-lt"/>
                <a:ea typeface="+mn-ea"/>
                <a:cs typeface="+mn-cs"/>
              </a:rPr>
              <a:t>First, the attacker trains or queries an attack procedure using the generator or synthetic outputs. Second, the procedure scores resemblance between a target record and the model’s learned behavior. Third, the resulting evidence is summarized as membership risk for that individual record.</a:t>
            </a:r>
            <a:endParaRPr lang="en-US" b="0" dirty="0">
              <a:effectLst/>
            </a:endParaRPr>
          </a:p>
          <a:p>
            <a:pPr rtl="0"/>
            <a:r>
              <a:rPr lang="en-US" sz="1200" b="0" i="0" u="none" strike="noStrike" kern="1200" dirty="0">
                <a:solidFill>
                  <a:schemeClr val="tx1"/>
                </a:solidFill>
                <a:effectLst/>
                <a:latin typeface="+mn-lt"/>
                <a:ea typeface="+mn-ea"/>
                <a:cs typeface="+mn-cs"/>
              </a:rPr>
              <a:t>The key point is that MIA does not ask whether the synthetic data is realistic. It asks whether realism is accompanied by evidence that a specific person, event, or network flow was present in the training data.”</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TUAN:</a:t>
            </a:r>
            <a:r>
              <a:rPr lang="en-US" sz="1200" b="0" i="0" u="none" strike="noStrike" kern="1200" dirty="0">
                <a:solidFill>
                  <a:schemeClr val="tx1"/>
                </a:solidFill>
                <a:effectLst/>
                <a:latin typeface="+mn-lt"/>
                <a:ea typeface="+mn-ea"/>
                <a:cs typeface="+mn-cs"/>
              </a:rPr>
              <a:t> “This issue becomes especially important in cybersecurity.</a:t>
            </a:r>
            <a:endParaRPr lang="en-US" b="0" dirty="0">
              <a:effectLst/>
            </a:endParaRPr>
          </a:p>
          <a:p>
            <a:pPr rtl="0"/>
            <a:r>
              <a:rPr lang="en-US" sz="1200" b="0" i="0" u="none" strike="noStrike" kern="1200" dirty="0">
                <a:solidFill>
                  <a:schemeClr val="tx1"/>
                </a:solidFill>
                <a:effectLst/>
                <a:latin typeface="+mn-lt"/>
                <a:ea typeface="+mn-ea"/>
                <a:cs typeface="+mn-cs"/>
              </a:rPr>
              <a:t>When we move from a general tabular dataset such as Adult to network traffic and intrusion-detection-system data, the records describe flows, behaviors, and signals relevant to security events.</a:t>
            </a:r>
            <a:endParaRPr lang="en-US" b="0" dirty="0">
              <a:effectLst/>
            </a:endParaRPr>
          </a:p>
          <a:p>
            <a:pPr rtl="0"/>
            <a:r>
              <a:rPr lang="en-US" sz="1200" b="0" i="0" u="none" strike="noStrike" kern="1200" dirty="0">
                <a:solidFill>
                  <a:schemeClr val="tx1"/>
                </a:solidFill>
                <a:effectLst/>
                <a:latin typeface="+mn-lt"/>
                <a:ea typeface="+mn-ea"/>
                <a:cs typeface="+mn-cs"/>
              </a:rPr>
              <a:t>These datasets are often highly imbalanced. Common events and attack types dominate the data, while rare attacks may have very few examples. That is a major problem for intrusion detection because models need sufficient exposure to rare but important attacks.</a:t>
            </a:r>
            <a:endParaRPr lang="en-US" b="0" dirty="0">
              <a:effectLst/>
            </a:endParaRPr>
          </a:p>
          <a:p>
            <a:pPr rtl="0"/>
            <a:r>
              <a:rPr lang="en-US" sz="1200" b="0" i="0" u="none" strike="noStrike" kern="1200" dirty="0">
                <a:solidFill>
                  <a:schemeClr val="tx1"/>
                </a:solidFill>
                <a:effectLst/>
                <a:latin typeface="+mn-lt"/>
                <a:ea typeface="+mn-ea"/>
                <a:cs typeface="+mn-cs"/>
              </a:rPr>
              <a:t>At the same time, rare patterns have dual sensitivity. They are highly valuable because they can improve detection coverage, but they can also be more privacy-sensitive because distinctive records may be easier to recognize or infer.</a:t>
            </a:r>
            <a:endParaRPr lang="en-US" b="0" dirty="0">
              <a:effectLst/>
            </a:endParaRPr>
          </a:p>
          <a:p>
            <a:pPr rtl="0"/>
            <a:r>
              <a:rPr lang="en-US" sz="1200" b="0" i="0" u="none" strike="noStrike" kern="1200" dirty="0">
                <a:solidFill>
                  <a:schemeClr val="tx1"/>
                </a:solidFill>
                <a:effectLst/>
                <a:latin typeface="+mn-lt"/>
                <a:ea typeface="+mn-ea"/>
                <a:cs typeface="+mn-cs"/>
              </a:rPr>
              <a:t>Therefore, cybersecurity needs both better rare-class coverage and a defensible way to manage privacy risk.”</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MTHANH:</a:t>
            </a:r>
            <a:r>
              <a:rPr lang="en-US" sz="1200" b="0" i="0" u="none" strike="noStrike" kern="1200" dirty="0">
                <a:solidFill>
                  <a:schemeClr val="tx1"/>
                </a:solidFill>
                <a:effectLst/>
                <a:latin typeface="+mn-lt"/>
                <a:ea typeface="+mn-ea"/>
                <a:cs typeface="+mn-cs"/>
              </a:rPr>
              <a:t> “Synthetic augmentation can help address class imbalance in intrusion detection.</a:t>
            </a:r>
            <a:endParaRPr lang="en-US" b="0" dirty="0">
              <a:effectLst/>
            </a:endParaRPr>
          </a:p>
          <a:p>
            <a:pPr rtl="0"/>
            <a:r>
              <a:rPr lang="en-US" sz="1200" b="0" i="0" u="none" strike="noStrike" kern="1200" dirty="0">
                <a:solidFill>
                  <a:schemeClr val="tx1"/>
                </a:solidFill>
                <a:effectLst/>
                <a:latin typeface="+mn-lt"/>
                <a:ea typeface="+mn-ea"/>
                <a:cs typeface="+mn-cs"/>
              </a:rPr>
              <a:t>The idea is to generate additional examples for underrepresented attack classes so that an IDS model can learn from a broader range of attack-related patterns. This can improve coverage where observed data is thin.</a:t>
            </a:r>
            <a:endParaRPr lang="en-US" b="0" dirty="0">
              <a:effectLst/>
            </a:endParaRPr>
          </a:p>
          <a:p>
            <a:pPr rtl="0"/>
            <a:r>
              <a:rPr lang="en-US" sz="1200" b="0" i="0" u="none" strike="noStrike" kern="1200" dirty="0">
                <a:solidFill>
                  <a:schemeClr val="tx1"/>
                </a:solidFill>
                <a:effectLst/>
                <a:latin typeface="+mn-lt"/>
                <a:ea typeface="+mn-ea"/>
                <a:cs typeface="+mn-cs"/>
              </a:rPr>
              <a:t>But synthetic volume alone is not the goal. Simply generating more records does not guarantee that they add meaningful diversity, and it does not guarantee that they are safe.</a:t>
            </a:r>
            <a:endParaRPr lang="en-US" b="0" dirty="0">
              <a:effectLst/>
            </a:endParaRPr>
          </a:p>
          <a:p>
            <a:pPr rtl="0"/>
            <a:r>
              <a:rPr lang="en-US" sz="1200" b="0" i="0" u="none" strike="noStrike" kern="1200" dirty="0">
                <a:solidFill>
                  <a:schemeClr val="tx1"/>
                </a:solidFill>
                <a:effectLst/>
                <a:latin typeface="+mn-lt"/>
                <a:ea typeface="+mn-ea"/>
                <a:cs typeface="+mn-cs"/>
              </a:rPr>
              <a:t>A useful augmentation process has three requirements. First, it should target rare attacks where coverage is limited. Second, it should preserve meaningful class diversity rather than generate near-duplicates. Third, it should assess privacy before generated records are passed into the IDS training pipeline.</a:t>
            </a:r>
            <a:endParaRPr lang="en-US" b="0" dirty="0">
              <a:effectLst/>
            </a:endParaRPr>
          </a:p>
          <a:p>
            <a:pPr rtl="0"/>
            <a:r>
              <a:rPr lang="en-US" sz="1200" b="0" i="0" u="none" strike="noStrike" kern="1200" dirty="0">
                <a:solidFill>
                  <a:schemeClr val="tx1"/>
                </a:solidFill>
                <a:effectLst/>
                <a:latin typeface="+mn-lt"/>
                <a:ea typeface="+mn-ea"/>
                <a:cs typeface="+mn-cs"/>
              </a:rPr>
              <a:t>This is the motivation for </a:t>
            </a:r>
            <a:r>
              <a:rPr lang="en-US" sz="1200" b="0" i="0" u="none" strike="noStrike" kern="1200" dirty="0" err="1">
                <a:solidFill>
                  <a:schemeClr val="tx1"/>
                </a:solidFill>
                <a:effectLst/>
                <a:latin typeface="+mn-lt"/>
                <a:ea typeface="+mn-ea"/>
                <a:cs typeface="+mn-cs"/>
              </a:rPr>
              <a:t>SynthGuard</a:t>
            </a:r>
            <a:r>
              <a:rPr lang="en-US" sz="1200" b="0" i="0" u="none" strike="noStrike" kern="1200" dirty="0">
                <a:solidFill>
                  <a:schemeClr val="tx1"/>
                </a:solidFill>
                <a:effectLst/>
                <a:latin typeface="+mn-lt"/>
                <a:ea typeface="+mn-ea"/>
                <a:cs typeface="+mn-cs"/>
              </a:rPr>
              <a:t>.”</a:t>
            </a:r>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DTHANH:</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SynthGuard</a:t>
            </a:r>
            <a:r>
              <a:rPr lang="en-US" sz="1200" b="0" i="0" u="none" strike="noStrike" kern="1200" dirty="0">
                <a:solidFill>
                  <a:schemeClr val="tx1"/>
                </a:solidFill>
                <a:effectLst/>
                <a:latin typeface="+mn-lt"/>
                <a:ea typeface="+mn-ea"/>
                <a:cs typeface="+mn-cs"/>
              </a:rPr>
              <a:t> adds risk differentiation to the synthetic-data workflow.</a:t>
            </a:r>
            <a:endParaRPr lang="en-US" b="0" dirty="0">
              <a:effectLst/>
            </a:endParaRPr>
          </a:p>
          <a:p>
            <a:pPr rtl="0"/>
            <a:r>
              <a:rPr lang="en-US" sz="1200" b="0" i="0" u="none" strike="noStrike" kern="1200" dirty="0">
                <a:solidFill>
                  <a:schemeClr val="tx1"/>
                </a:solidFill>
                <a:effectLst/>
                <a:latin typeface="+mn-lt"/>
                <a:ea typeface="+mn-ea"/>
                <a:cs typeface="+mn-cs"/>
              </a:rPr>
              <a:t>The workflow begins with cybersecurity data, such as network traffic and IDS records. A synthetic generator learns the underlying structure and produces candidate synthetic records.</a:t>
            </a:r>
            <a:endParaRPr lang="en-US" b="0" dirty="0">
              <a:effectLst/>
            </a:endParaRPr>
          </a:p>
          <a:p>
            <a:pPr rtl="0"/>
            <a:r>
              <a:rPr lang="en-US" sz="1200" b="0" i="0" u="none" strike="noStrike" kern="1200" dirty="0">
                <a:solidFill>
                  <a:schemeClr val="tx1"/>
                </a:solidFill>
                <a:effectLst/>
                <a:latin typeface="+mn-lt"/>
                <a:ea typeface="+mn-ea"/>
                <a:cs typeface="+mn-cs"/>
              </a:rPr>
              <a:t>Rather than treating every candidate as equally suitable, </a:t>
            </a:r>
            <a:r>
              <a:rPr lang="en-US" sz="1200" b="0" i="0" u="none" strike="noStrike" kern="1200" dirty="0" err="1">
                <a:solidFill>
                  <a:schemeClr val="tx1"/>
                </a:solidFill>
                <a:effectLst/>
                <a:latin typeface="+mn-lt"/>
                <a:ea typeface="+mn-ea"/>
                <a:cs typeface="+mn-cs"/>
              </a:rPr>
              <a:t>SynthGuard</a:t>
            </a:r>
            <a:r>
              <a:rPr lang="en-US" sz="1200" b="0" i="0" u="none" strike="noStrike" kern="1200" dirty="0">
                <a:solidFill>
                  <a:schemeClr val="tx1"/>
                </a:solidFill>
                <a:effectLst/>
                <a:latin typeface="+mn-lt"/>
                <a:ea typeface="+mn-ea"/>
                <a:cs typeface="+mn-cs"/>
              </a:rPr>
              <a:t> applies membership-inference-based risk scoring. Each synthetic record is evaluated for its potential record-level privacy leakage.</a:t>
            </a:r>
            <a:endParaRPr lang="en-US" b="0" dirty="0">
              <a:effectLst/>
            </a:endParaRPr>
          </a:p>
          <a:p>
            <a:pPr rtl="0"/>
            <a:r>
              <a:rPr lang="en-US" sz="1200" b="0" i="0" u="none" strike="noStrike" kern="1200" dirty="0">
                <a:solidFill>
                  <a:schemeClr val="tx1"/>
                </a:solidFill>
                <a:effectLst/>
                <a:latin typeface="+mn-lt"/>
                <a:ea typeface="+mn-ea"/>
                <a:cs typeface="+mn-cs"/>
              </a:rPr>
              <a:t>The records are then partitioned according to measured risk.</a:t>
            </a:r>
            <a:endParaRPr lang="en-US" b="0" dirty="0">
              <a:effectLst/>
            </a:endParaRPr>
          </a:p>
          <a:p>
            <a:pPr rtl="0"/>
            <a:r>
              <a:rPr lang="en-US" sz="1200" b="0" i="0" u="none" strike="noStrike" kern="1200" dirty="0">
                <a:solidFill>
                  <a:schemeClr val="tx1"/>
                </a:solidFill>
                <a:effectLst/>
                <a:latin typeface="+mn-lt"/>
                <a:ea typeface="+mn-ea"/>
                <a:cs typeface="+mn-cs"/>
              </a:rPr>
              <a:t>Higher-risk records are filtered or regenerated. They do not automatically move forward into the augmentation dataset because their resemblance to training data may create a greater privacy concern.</a:t>
            </a:r>
            <a:endParaRPr lang="en-US" b="0" dirty="0">
              <a:effectLst/>
            </a:endParaRPr>
          </a:p>
          <a:p>
            <a:pPr rtl="0"/>
            <a:r>
              <a:rPr lang="en-US" sz="1200" b="0" i="0" u="none" strike="noStrike" kern="1200" dirty="0">
                <a:solidFill>
                  <a:schemeClr val="tx1"/>
                </a:solidFill>
                <a:effectLst/>
                <a:latin typeface="+mn-lt"/>
                <a:ea typeface="+mn-ea"/>
                <a:cs typeface="+mn-cs"/>
              </a:rPr>
              <a:t>Lower-risk records are retained for IDS augmentation. These are the records that can contribute useful rare-attack coverage while presenting lower measured membership risk.</a:t>
            </a:r>
            <a:endParaRPr lang="en-US" b="0" dirty="0">
              <a:effectLst/>
            </a:endParaRPr>
          </a:p>
          <a:p>
            <a:pPr rtl="0"/>
            <a:r>
              <a:rPr lang="en-US" sz="1200" b="0" i="0" u="none" strike="noStrike" kern="1200" dirty="0">
                <a:solidFill>
                  <a:schemeClr val="tx1"/>
                </a:solidFill>
                <a:effectLst/>
                <a:latin typeface="+mn-lt"/>
                <a:ea typeface="+mn-ea"/>
                <a:cs typeface="+mn-cs"/>
              </a:rPr>
              <a:t>This is a shift from a single, blanket decision about synthetic data to differentiated decisions based on evidence.”</a:t>
            </a:r>
          </a:p>
          <a:p>
            <a:pPr rtl="0"/>
            <a:endParaRPr lang="en-US" sz="1200" b="0" i="0" u="none" strike="noStrike" kern="1200" dirty="0">
              <a:solidFill>
                <a:schemeClr val="tx1"/>
              </a:solidFill>
              <a:effectLst/>
              <a:latin typeface="+mn-lt"/>
              <a:ea typeface="+mn-ea"/>
              <a:cs typeface="+mn-cs"/>
            </a:endParaRPr>
          </a:p>
          <a:p>
            <a:pPr rtl="0"/>
            <a:r>
              <a:rPr lang="en-US" sz="1200" b="1" i="0" u="none" strike="noStrike" kern="1200" dirty="0">
                <a:solidFill>
                  <a:schemeClr val="tx1"/>
                </a:solidFill>
                <a:effectLst/>
                <a:latin typeface="+mn-lt"/>
                <a:ea typeface="+mn-ea"/>
                <a:cs typeface="+mn-cs"/>
              </a:rPr>
              <a:t>DTHANH:</a:t>
            </a:r>
            <a:r>
              <a:rPr lang="en-US" sz="1200" b="0" i="0" u="none" strike="noStrike" kern="1200" dirty="0">
                <a:solidFill>
                  <a:schemeClr val="tx1"/>
                </a:solidFill>
                <a:effectLst/>
                <a:latin typeface="+mn-lt"/>
                <a:ea typeface="+mn-ea"/>
                <a:cs typeface="+mn-cs"/>
              </a:rPr>
              <a:t> “The core trade-off is between utility and privacy.</a:t>
            </a:r>
            <a:endParaRPr lang="en-US" b="0" dirty="0">
              <a:effectLst/>
            </a:endParaRPr>
          </a:p>
          <a:p>
            <a:pPr rtl="0"/>
            <a:r>
              <a:rPr lang="en-US" sz="1200" b="0" i="0" u="none" strike="noStrike" kern="1200" dirty="0">
                <a:solidFill>
                  <a:schemeClr val="tx1"/>
                </a:solidFill>
                <a:effectLst/>
                <a:latin typeface="+mn-lt"/>
                <a:ea typeface="+mn-ea"/>
                <a:cs typeface="+mn-cs"/>
              </a:rPr>
              <a:t>If we focus only on utility, we may retain highly realistic synthetic records that are too close to the original training data. If we focus only on privacy by removing large amounts of synthetic data, we may lose the diversity and rare-attack signal needed to strengthen intrusion detection.</a:t>
            </a:r>
            <a:endParaRPr lang="en-US" b="0" dirty="0">
              <a:effectLst/>
            </a:endParaRPr>
          </a:p>
          <a:p>
            <a:pPr rtl="0"/>
            <a:r>
              <a:rPr lang="en-US" sz="1200" b="0" i="0" u="none" strike="noStrike" kern="1200" dirty="0" err="1">
                <a:solidFill>
                  <a:schemeClr val="tx1"/>
                </a:solidFill>
                <a:effectLst/>
                <a:latin typeface="+mn-lt"/>
                <a:ea typeface="+mn-ea"/>
                <a:cs typeface="+mn-cs"/>
              </a:rPr>
              <a:t>SynthGuard</a:t>
            </a:r>
            <a:r>
              <a:rPr lang="en-US" sz="1200" b="0" i="0" u="none" strike="noStrike" kern="1200" dirty="0">
                <a:solidFill>
                  <a:schemeClr val="tx1"/>
                </a:solidFill>
                <a:effectLst/>
                <a:latin typeface="+mn-lt"/>
                <a:ea typeface="+mn-ea"/>
                <a:cs typeface="+mn-cs"/>
              </a:rPr>
              <a:t> addresses this tension by evaluating each generated record rather than assuming that all synthetic data carries the same level of risk.</a:t>
            </a:r>
            <a:endParaRPr lang="en-US" b="0" dirty="0">
              <a:effectLst/>
            </a:endParaRPr>
          </a:p>
          <a:p>
            <a:pPr rtl="0"/>
            <a:r>
              <a:rPr lang="en-US" sz="1200" b="0" i="0" u="none" strike="noStrike" kern="1200" dirty="0">
                <a:solidFill>
                  <a:schemeClr val="tx1"/>
                </a:solidFill>
                <a:effectLst/>
                <a:latin typeface="+mn-lt"/>
                <a:ea typeface="+mn-ea"/>
                <a:cs typeface="+mn-cs"/>
              </a:rPr>
              <a:t>The intended outcome is not maximum synthetic data. It is useful coverage with a defensible privacy decision: retain records that support rare-attack learning and have lower measured risk, while filtering or regenerating records that present higher risk.”</a:t>
            </a:r>
            <a:endParaRPr lang="en-US" b="0" dirty="0">
              <a:effectLst/>
            </a:endParaRPr>
          </a:p>
          <a:p>
            <a:br>
              <a:rPr lang="en-US" dirty="0"/>
            </a:br>
            <a:endParaRPr lang="en-US" b="0" dirty="0">
              <a:effectLst/>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MTHANH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1" i="0" u="none" strike="noStrike" kern="1200" dirty="0">
                <a:solidFill>
                  <a:schemeClr val="tx1"/>
                </a:solidFill>
                <a:effectLst/>
                <a:latin typeface="+mn-lt"/>
                <a:ea typeface="+mn-ea"/>
                <a:cs typeface="+mn-cs"/>
              </a:rPr>
              <a:t>HUYEN:</a:t>
            </a:r>
            <a:r>
              <a:rPr lang="en-US" sz="1200" b="0" i="0" u="none" strike="noStrike" kern="1200" dirty="0">
                <a:solidFill>
                  <a:schemeClr val="tx1"/>
                </a:solidFill>
                <a:effectLst/>
                <a:latin typeface="+mn-lt"/>
                <a:ea typeface="+mn-ea"/>
                <a:cs typeface="+mn-cs"/>
              </a:rPr>
              <a:t> “To conclude, CTGAN demonstrates that a generative model can learn the statistical style of tabular data: distributions, category relationships, and feature correlations. But this capability alone does not establish privacy.</a:t>
            </a:r>
            <a:endParaRPr lang="en-US" b="0" dirty="0">
              <a:effectLst/>
            </a:endParaRPr>
          </a:p>
          <a:p>
            <a:pPr rtl="0"/>
            <a:r>
              <a:rPr lang="en-US" sz="1200" b="0" i="0" u="none" strike="noStrike" kern="1200" dirty="0">
                <a:solidFill>
                  <a:schemeClr val="tx1"/>
                </a:solidFill>
                <a:effectLst/>
                <a:latin typeface="+mn-lt"/>
                <a:ea typeface="+mn-ea"/>
                <a:cs typeface="+mn-cs"/>
              </a:rPr>
              <a:t>Membership inference provides a way to test privacy at the level that matters: the individual record.</a:t>
            </a:r>
            <a:endParaRPr lang="en-US" b="0" dirty="0">
              <a:effectLst/>
            </a:endParaRPr>
          </a:p>
          <a:p>
            <a:pPr rtl="0"/>
            <a:r>
              <a:rPr lang="en-US" sz="1200" b="0" i="0" u="none" strike="noStrike" kern="1200" dirty="0">
                <a:solidFill>
                  <a:schemeClr val="tx1"/>
                </a:solidFill>
                <a:effectLst/>
                <a:latin typeface="+mn-lt"/>
                <a:ea typeface="+mn-ea"/>
                <a:cs typeface="+mn-cs"/>
              </a:rPr>
              <a:t>For cybersecurity, this is particularly important because rare attacks are both operationally valuable and potentially sensitive. Synthetic augmentation can improve rare-attack IDS coverage, but only if privacy is evaluated before generated records are used.</a:t>
            </a:r>
            <a:endParaRPr lang="en-US" b="0" dirty="0">
              <a:effectLst/>
            </a:endParaRPr>
          </a:p>
          <a:p>
            <a:pPr rtl="0"/>
            <a:r>
              <a:rPr lang="en-US" sz="1200" b="0" i="0" u="none" strike="noStrike" kern="1200" dirty="0" err="1">
                <a:solidFill>
                  <a:schemeClr val="tx1"/>
                </a:solidFill>
                <a:effectLst/>
                <a:latin typeface="+mn-lt"/>
                <a:ea typeface="+mn-ea"/>
                <a:cs typeface="+mn-cs"/>
              </a:rPr>
              <a:t>SynthGuard</a:t>
            </a:r>
            <a:r>
              <a:rPr lang="en-US" sz="1200" b="0" i="0" u="none" strike="noStrike" kern="1200" dirty="0">
                <a:solidFill>
                  <a:schemeClr val="tx1"/>
                </a:solidFill>
                <a:effectLst/>
                <a:latin typeface="+mn-lt"/>
                <a:ea typeface="+mn-ea"/>
                <a:cs typeface="+mn-cs"/>
              </a:rPr>
              <a:t> captures this approach: generate candidate synthetic records, measure membership risk, filter or regenerate higher-risk outputs, and retain lower-risk records for augmentation.</a:t>
            </a:r>
            <a:endParaRPr lang="en-US" b="0" dirty="0">
              <a:effectLst/>
            </a:endParaRPr>
          </a:p>
          <a:p>
            <a:pPr rtl="0"/>
            <a:r>
              <a:rPr lang="en-US" sz="1200" b="0" i="0" u="none" strike="noStrike" kern="1200" dirty="0">
                <a:solidFill>
                  <a:schemeClr val="tx1"/>
                </a:solidFill>
                <a:effectLst/>
                <a:latin typeface="+mn-lt"/>
                <a:ea typeface="+mn-ea"/>
                <a:cs typeface="+mn-cs"/>
              </a:rPr>
              <a:t>The central shift is from saying, ‘Synthetic data is safe,’ to saying, ‘Synthetic data earns its use through measured risk.’”</a:t>
            </a:r>
          </a:p>
          <a:p>
            <a:pPr rtl="0"/>
            <a:endParaRPr lang="en-US" sz="1200" b="0" i="0" u="none" strike="noStrike" kern="1200" dirty="0">
              <a:solidFill>
                <a:schemeClr val="tx1"/>
              </a:solidFill>
              <a:effectLst/>
              <a:latin typeface="+mn-lt"/>
              <a:ea typeface="+mn-ea"/>
              <a:cs typeface="+mn-cs"/>
            </a:endParaRPr>
          </a:p>
          <a:p>
            <a:r>
              <a:rPr lang="en-US" b="0" dirty="0">
                <a:effectLst/>
              </a:rPr>
              <a:t>Stakeholders will likely focus on whether </a:t>
            </a:r>
            <a:r>
              <a:rPr lang="en-US" b="0" dirty="0" err="1">
                <a:effectLst/>
              </a:rPr>
              <a:t>SynthGuard</a:t>
            </a:r>
            <a:r>
              <a:rPr lang="en-US" b="0" dirty="0">
                <a:effectLst/>
              </a:rPr>
              <a:t> improves rare-attack coverage without treating synthetic data as automatically private.</a:t>
            </a:r>
          </a:p>
          <a:p>
            <a:r>
              <a:rPr lang="en-US" b="1" dirty="0">
                <a:effectLst/>
              </a:rPr>
              <a:t>Strategy and value</a:t>
            </a:r>
          </a:p>
          <a:p>
            <a:r>
              <a:rPr lang="en-US" b="1" dirty="0">
                <a:effectLst/>
              </a:rPr>
              <a:t>1. What problem does </a:t>
            </a:r>
            <a:r>
              <a:rPr lang="en-US" b="1" dirty="0" err="1">
                <a:effectLst/>
              </a:rPr>
              <a:t>SynthGuard</a:t>
            </a:r>
            <a:r>
              <a:rPr lang="en-US" b="1" dirty="0">
                <a:effectLst/>
              </a:rPr>
              <a:t> solve that CTGAN alone does not?</a:t>
            </a:r>
            <a:r>
              <a:rPr lang="en-US" b="0" dirty="0">
                <a:effectLst/>
              </a:rPr>
              <a:t> CTGAN can learn distributions, categorical relationships, and feature correlations to generate plausible tabular records. It does not, by itself, establish whether outputs could reveal membership of specific training records. </a:t>
            </a:r>
            <a:r>
              <a:rPr lang="en-US" b="0" dirty="0" err="1">
                <a:effectLst/>
              </a:rPr>
              <a:t>SynthGuard</a:t>
            </a:r>
            <a:r>
              <a:rPr lang="en-US" b="0" dirty="0">
                <a:effectLst/>
              </a:rPr>
              <a:t> adds membership-inference-based, record-level risk scoring so generated records can be retained, filtered, or regenerated according to measured privacy risk.</a:t>
            </a:r>
          </a:p>
          <a:p>
            <a:r>
              <a:rPr lang="en-US" b="1" dirty="0">
                <a:effectLst/>
              </a:rPr>
              <a:t>2. Why use synthetic data for intrusion detection?</a:t>
            </a:r>
            <a:r>
              <a:rPr lang="en-US" b="0" dirty="0">
                <a:effectLst/>
              </a:rPr>
              <a:t> Intrusion-detection datasets are often imbalanced: common events dominate while rare attacks have few examples. Synthetic augmentation can expand the examples available for underrepresented attack classes and broaden the patterns an IDS can learn.</a:t>
            </a:r>
          </a:p>
          <a:p>
            <a:r>
              <a:rPr lang="en-US" b="1" dirty="0">
                <a:effectLst/>
              </a:rPr>
              <a:t>3. Is the goal to generate as much synthetic data as possible?</a:t>
            </a:r>
            <a:r>
              <a:rPr lang="en-US" b="0" dirty="0">
                <a:effectLst/>
              </a:rPr>
              <a:t> No. The goal is useful rare-attack coverage with a defensible privacy decision. High volume is not valuable if it consists of repetitive records, fails to improve class diversity, or presents elevated membership risk.</a:t>
            </a:r>
          </a:p>
          <a:p>
            <a:r>
              <a:rPr lang="en-US" b="1" dirty="0">
                <a:effectLst/>
              </a:rPr>
              <a:t>4. Why are rare attacks the priority?</a:t>
            </a:r>
            <a:r>
              <a:rPr lang="en-US" b="0" dirty="0">
                <a:effectLst/>
              </a:rPr>
              <a:t> Rare attacks are operationally important because limited examples can weaken an IDS’s ability to recognize them. They are also potentially more privacy-sensitive because unusual patterns can be distinctive. This makes risk-aware augmentation particularly important for these classes.</a:t>
            </a:r>
          </a:p>
          <a:p>
            <a:r>
              <a:rPr lang="en-US" b="1" dirty="0">
                <a:effectLst/>
              </a:rPr>
              <a:t>Privacy and security assurance</a:t>
            </a:r>
          </a:p>
          <a:p>
            <a:r>
              <a:rPr lang="en-US" b="1" dirty="0">
                <a:effectLst/>
              </a:rPr>
              <a:t>5. Does synthetic data guarantee privacy?</a:t>
            </a:r>
            <a:r>
              <a:rPr lang="en-US" b="0" dirty="0">
                <a:effectLst/>
              </a:rPr>
              <a:t> No. Statistical learning describes what a generator captures, but it does not guarantee that the generator has not memorized some training records. Privacy must be tested rather than assumed.</a:t>
            </a:r>
          </a:p>
          <a:p>
            <a:r>
              <a:rPr lang="en-US" b="1" dirty="0">
                <a:effectLst/>
              </a:rPr>
              <a:t>6. What is a membership inference attack, in plain language?</a:t>
            </a:r>
            <a:r>
              <a:rPr lang="en-US" b="0" dirty="0">
                <a:effectLst/>
              </a:rPr>
              <a:t> It is a privacy test that estimates whether a particular target record was likely part of the generator’s training data. The procedure interacts with the generator or its outputs, scores resemblance, and summarizes potential leakage at the individual-record level.</a:t>
            </a:r>
          </a:p>
          <a:p>
            <a:r>
              <a:rPr lang="en-US" b="1" dirty="0">
                <a:effectLst/>
              </a:rPr>
              <a:t>7. What does a high-risk synthetic record mean?</a:t>
            </a:r>
            <a:r>
              <a:rPr lang="en-US" b="0" dirty="0">
                <a:effectLst/>
              </a:rPr>
              <a:t> It means the record has a higher measured membership risk: evidence suggests it may be too closely associated with the training data. </a:t>
            </a:r>
            <a:r>
              <a:rPr lang="en-US" b="0" dirty="0" err="1">
                <a:effectLst/>
              </a:rPr>
              <a:t>SynthGuard</a:t>
            </a:r>
            <a:r>
              <a:rPr lang="en-US" b="0" dirty="0">
                <a:effectLst/>
              </a:rPr>
              <a:t> treats it as unsuitable for automatic use and filters it out or regenerates an alternative.</a:t>
            </a:r>
          </a:p>
          <a:p>
            <a:r>
              <a:rPr lang="en-US" b="1" dirty="0">
                <a:effectLst/>
              </a:rPr>
              <a:t>8. Are lower-risk records completely risk-free?</a:t>
            </a:r>
            <a:r>
              <a:rPr lang="en-US" b="0" dirty="0">
                <a:effectLst/>
              </a:rPr>
              <a:t> No. “Lower risk” means lower measured membership risk under the assessment procedure, not an absolute guarantee of zero privacy risk. The framework’s contribution is to make risk visible and use it to differentiate decisions.</a:t>
            </a:r>
          </a:p>
          <a:p>
            <a:r>
              <a:rPr lang="en-US" b="1" dirty="0">
                <a:effectLst/>
              </a:rPr>
              <a:t>9. Could filtering high-risk records reduce data utility?</a:t>
            </a:r>
            <a:r>
              <a:rPr lang="en-US" b="0" dirty="0">
                <a:effectLst/>
              </a:rPr>
              <a:t> Yes. Removing records can reduce the size or diversity of the augmentation set. The trade-off is intentional: </a:t>
            </a:r>
            <a:r>
              <a:rPr lang="en-US" b="0" dirty="0" err="1">
                <a:effectLst/>
              </a:rPr>
              <a:t>SynthGuard</a:t>
            </a:r>
            <a:r>
              <a:rPr lang="en-US" b="0" dirty="0">
                <a:effectLst/>
              </a:rPr>
              <a:t> seeks to preserve records that support rare-attack coverage while avoiding records with higher measured leakage risk.</a:t>
            </a:r>
          </a:p>
          <a:p>
            <a:r>
              <a:rPr lang="en-US" b="1" dirty="0">
                <a:effectLst/>
              </a:rPr>
              <a:t>Technical and operational questions</a:t>
            </a:r>
          </a:p>
          <a:p>
            <a:r>
              <a:rPr lang="en-US" b="1" dirty="0">
                <a:effectLst/>
              </a:rPr>
              <a:t>10. How does the workflow decide what enters IDS training?</a:t>
            </a:r>
            <a:r>
              <a:rPr lang="en-US" b="0" dirty="0">
                <a:effectLst/>
              </a:rPr>
              <a:t> The workflow is: cybersecurity data → synthetic generator → candidate synthetic records → membership-inference risk scoring → risk partitioning. Lower-risk records are retained for IDS augmentation; higher-risk records are filtered or regenerated.</a:t>
            </a:r>
          </a:p>
          <a:p>
            <a:r>
              <a:rPr lang="en-US" b="1" dirty="0">
                <a:effectLst/>
              </a:rPr>
              <a:t>11. How is this different from simply removing duplicates?</a:t>
            </a:r>
            <a:r>
              <a:rPr lang="en-US" b="0" dirty="0">
                <a:effectLst/>
              </a:rPr>
              <a:t> Duplicate removal checks whether records are identical or nearly identical. Membership inference addresses a broader question: whether model behavior or synthetic outputs provide evidence that a target record belonged to the original training set.</a:t>
            </a:r>
          </a:p>
          <a:p>
            <a:r>
              <a:rPr lang="en-US" b="1" dirty="0">
                <a:effectLst/>
              </a:rPr>
              <a:t>12. What data characteristics must the generator preserve?</a:t>
            </a:r>
            <a:r>
              <a:rPr lang="en-US" b="0" dirty="0">
                <a:effectLst/>
              </a:rPr>
              <a:t> It should preserve meaningful feature distributions, categorical relationships, and cross-feature correlations. For IDS use, it should also broaden rare-attack patterns rather than merely produce near-duplicate examples.</a:t>
            </a:r>
          </a:p>
          <a:p>
            <a:r>
              <a:rPr lang="en-US" b="1" dirty="0">
                <a:effectLst/>
              </a:rPr>
              <a:t>13. What evidence would demonstrate that the approach is useful?</a:t>
            </a:r>
            <a:r>
              <a:rPr lang="en-US" b="0" dirty="0">
                <a:effectLst/>
              </a:rPr>
              <a:t> The relevant evidence is a combined assessment: improved rare-attack representation and IDS coverage, preserved class diversity, and lower measured membership risk for the records retained for augmentation. The presentation describes this framework but does not provide performance metrics or threshold values.</a:t>
            </a:r>
          </a:p>
          <a:p>
            <a:r>
              <a:rPr lang="en-US" b="1" dirty="0">
                <a:effectLst/>
              </a:rPr>
              <a:t>14. Does the presentation define a universal risk threshold?</a:t>
            </a:r>
            <a:r>
              <a:rPr lang="en-US" b="0" dirty="0">
                <a:effectLst/>
              </a:rPr>
              <a:t> No. It establishes the principle of record-level risk differentiation but does not specify a numeric threshold for accepting, filtering, or regenerating records.</a:t>
            </a:r>
          </a:p>
          <a:p>
            <a:r>
              <a:rPr lang="en-US" b="1" dirty="0">
                <a:effectLst/>
              </a:rPr>
              <a:t>Governance and decision-making</a:t>
            </a:r>
          </a:p>
          <a:p>
            <a:r>
              <a:rPr lang="en-US" b="1" dirty="0">
                <a:effectLst/>
              </a:rPr>
              <a:t>15. Who decides whether a record is acceptable for use?</a:t>
            </a:r>
            <a:r>
              <a:rPr lang="en-US" b="0" dirty="0">
                <a:effectLst/>
              </a:rPr>
              <a:t> The framework supports an evidence-based decision: measured risk determines whether a record is retained or handled more cautiously. The document does not prescribe a specific organizational approval process or assign decision authority.</a:t>
            </a:r>
          </a:p>
          <a:p>
            <a:r>
              <a:rPr lang="en-US" b="1" dirty="0">
                <a:effectLst/>
              </a:rPr>
              <a:t>16. What is the key governance message for stakeholders?</a:t>
            </a:r>
            <a:r>
              <a:rPr lang="en-US" b="0" dirty="0">
                <a:effectLst/>
              </a:rPr>
              <a:t> Synthetic data should not be approved merely because it is synthetic or realistic. Its use should be justified through measured record-level risk and its demonstrated contribution to rare-attack IDS coverage.</a:t>
            </a:r>
          </a:p>
          <a:p>
            <a:r>
              <a:rPr lang="en-US" b="1" dirty="0">
                <a:effectLst/>
              </a:rPr>
              <a:t>17. What is the main limitation of this preliminary insight?</a:t>
            </a:r>
            <a:r>
              <a:rPr lang="en-US" b="0" dirty="0">
                <a:effectLst/>
              </a:rPr>
              <a:t> It presents a conceptual workflow and rationale, rather than a completed validation study. It does not report empirical IDS performance gains, attack success rates, risk thresholds, or comparisons across multiple generators.</a:t>
            </a:r>
          </a:p>
          <a:p>
            <a:r>
              <a:rPr lang="en-US" b="1" dirty="0">
                <a:effectLst/>
              </a:rPr>
              <a:t>18. What is the one-sentence takeaway for an executive audience?</a:t>
            </a:r>
            <a:r>
              <a:rPr lang="en-US" b="0" dirty="0">
                <a:effectLst/>
              </a:rPr>
              <a:t> </a:t>
            </a:r>
            <a:r>
              <a:rPr lang="en-US" b="0" dirty="0" err="1">
                <a:effectLst/>
              </a:rPr>
              <a:t>SynthGuard</a:t>
            </a:r>
            <a:r>
              <a:rPr lang="en-US" b="0" dirty="0">
                <a:effectLst/>
              </a:rPr>
              <a:t> aims to improve detection of rare cyberattacks by using synthetic data selectively: retaining useful records with lower measured privacy risk and filtering or regenerating higher-risk ones.</a:t>
            </a:r>
          </a:p>
          <a:p>
            <a:r>
              <a:rPr lang="en-US" b="0" dirty="0">
                <a:effectLst/>
              </a:rPr>
              <a:t> </a:t>
            </a:r>
          </a:p>
          <a:p>
            <a:pPr rtl="0"/>
            <a:endParaRPr lang="en-US" b="0" dirty="0">
              <a:effectLst/>
            </a:endParaRP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sp>
      <p:sp>
        <p:nvSpPr>
          <p:cNvPr id="3" name="Shape 1"/>
          <p:cNvSpPr/>
          <p:nvPr/>
        </p:nvSpPr>
        <p:spPr>
          <a:xfrm>
            <a:off x="0" y="0"/>
            <a:ext cx="12191695" cy="68580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1597977" y="2170113"/>
            <a:ext cx="8995641" cy="217289"/>
          </a:xfrm>
          <a:prstGeom prst="rect">
            <a:avLst/>
          </a:prstGeom>
          <a:noFill/>
          <a:ln/>
        </p:spPr>
        <p:txBody>
          <a:bodyPr wrap="none" lIns="0" tIns="0" rIns="0" bIns="0" rtlCol="0" anchor="t"/>
          <a:lstStyle/>
          <a:p>
            <a:pPr marL="0" indent="0" algn="ctr">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HONG MINH - KHANH HUYEN - DUC THANH - NAM ANH - ANH TUAN - MINH THANH</a:t>
            </a:r>
            <a:endParaRPr lang="en-US" sz="1450" dirty="0"/>
          </a:p>
        </p:txBody>
      </p:sp>
      <p:sp>
        <p:nvSpPr>
          <p:cNvPr id="3" name="Text 1"/>
          <p:cNvSpPr/>
          <p:nvPr/>
        </p:nvSpPr>
        <p:spPr>
          <a:xfrm>
            <a:off x="3022705" y="2501404"/>
            <a:ext cx="6146184" cy="987425"/>
          </a:xfrm>
          <a:prstGeom prst="rect">
            <a:avLst/>
          </a:prstGeom>
          <a:noFill/>
          <a:ln/>
        </p:spPr>
        <p:txBody>
          <a:bodyPr wrap="square" lIns="0" tIns="0" rIns="0" bIns="0" rtlCol="0" anchor="t">
            <a:normAutofit lnSpcReduction="10000"/>
          </a:bodyPr>
          <a:lstStyle/>
          <a:p>
            <a:pPr marL="0" indent="0" algn="ctr">
              <a:lnSpc>
                <a:spcPct val="90000"/>
              </a:lnSpc>
              <a:buNone/>
            </a:pPr>
            <a:r>
              <a:rPr lang="en-US" sz="3600" b="1" kern="0" spc="-29" dirty="0">
                <a:solidFill>
                  <a:srgbClr val="0C0C0C"/>
                </a:solidFill>
                <a:latin typeface="Tinos Bold" pitchFamily="34" charset="0"/>
                <a:ea typeface="Tinos Bold" pitchFamily="34" charset="-122"/>
                <a:cs typeface="Tinos Bold" pitchFamily="34" charset="-120"/>
              </a:rPr>
              <a:t>Preliminary Insight:</a:t>
            </a:r>
            <a:endParaRPr lang="en-US" sz="3600" dirty="0"/>
          </a:p>
          <a:p>
            <a:pPr marL="0" indent="0" algn="ctr">
              <a:lnSpc>
                <a:spcPct val="90000"/>
              </a:lnSpc>
              <a:buNone/>
            </a:pPr>
            <a:r>
              <a:rPr lang="en-US" sz="3600" b="1" kern="0" spc="-29" dirty="0">
                <a:solidFill>
                  <a:srgbClr val="0C0C0C"/>
                </a:solidFill>
                <a:latin typeface="Tinos Bold" pitchFamily="34" charset="0"/>
                <a:ea typeface="Tinos Bold" pitchFamily="34" charset="-122"/>
                <a:cs typeface="Tinos Bold" pitchFamily="34" charset="-120"/>
              </a:rPr>
              <a:t>From CTGAN to SynthGuard</a:t>
            </a:r>
            <a:endParaRPr lang="en-US" sz="3600" dirty="0"/>
          </a:p>
        </p:txBody>
      </p:sp>
      <p:sp>
        <p:nvSpPr>
          <p:cNvPr id="4" name="Text 2"/>
          <p:cNvSpPr/>
          <p:nvPr/>
        </p:nvSpPr>
        <p:spPr>
          <a:xfrm>
            <a:off x="2293979" y="3602831"/>
            <a:ext cx="7603736" cy="325041"/>
          </a:xfrm>
          <a:prstGeom prst="rect">
            <a:avLst/>
          </a:prstGeom>
          <a:noFill/>
          <a:ln/>
        </p:spPr>
        <p:txBody>
          <a:bodyPr wrap="none" lIns="0" tIns="0" rIns="0" bIns="0" rtlCol="0" anchor="t"/>
          <a:lstStyle/>
          <a:p>
            <a:pPr marL="0" indent="0" algn="ctr">
              <a:lnSpc>
                <a:spcPct val="107000"/>
              </a:lnSpc>
              <a:buNone/>
            </a:pPr>
            <a:r>
              <a:rPr lang="en-US" sz="2000" dirty="0">
                <a:solidFill>
                  <a:srgbClr val="0C0C0C"/>
                </a:solidFill>
                <a:latin typeface="Tinos" pitchFamily="34" charset="0"/>
                <a:ea typeface="Tinos" pitchFamily="34" charset="-122"/>
                <a:cs typeface="Tinos" pitchFamily="34" charset="-120"/>
              </a:rPr>
              <a:t>Learning statistical structure is not the same as guaranteeing privacy.</a:t>
            </a:r>
            <a:endParaRPr lang="en-US" sz="2000" dirty="0"/>
          </a:p>
        </p:txBody>
      </p:sp>
      <p:sp>
        <p:nvSpPr>
          <p:cNvPr id="5" name="Shape 3"/>
          <p:cNvSpPr/>
          <p:nvPr/>
        </p:nvSpPr>
        <p:spPr>
          <a:xfrm>
            <a:off x="1981150" y="4129484"/>
            <a:ext cx="8229394" cy="31651"/>
          </a:xfrm>
          <a:prstGeom prst="roundRect">
            <a:avLst>
              <a:gd name="adj" fmla="val 49998"/>
            </a:avLst>
          </a:prstGeom>
          <a:solidFill>
            <a:srgbClr val="000000">
              <a:alpha val="8000"/>
            </a:srgbClr>
          </a:solidFill>
          <a:ln/>
        </p:spPr>
      </p:sp>
      <p:sp>
        <p:nvSpPr>
          <p:cNvPr id="6" name="Text 4"/>
          <p:cNvSpPr/>
          <p:nvPr/>
        </p:nvSpPr>
        <p:spPr>
          <a:xfrm>
            <a:off x="648279" y="4362847"/>
            <a:ext cx="10895137" cy="325041"/>
          </a:xfrm>
          <a:prstGeom prst="rect">
            <a:avLst/>
          </a:prstGeom>
          <a:noFill/>
          <a:ln/>
        </p:spPr>
        <p:txBody>
          <a:bodyPr wrap="none" lIns="0" tIns="0" rIns="0" bIns="0" rtlCol="0" anchor="t"/>
          <a:lstStyle/>
          <a:p>
            <a:pPr marL="0" indent="0" algn="ctr">
              <a:lnSpc>
                <a:spcPct val="107000"/>
              </a:lnSpc>
              <a:buNone/>
            </a:pPr>
            <a:r>
              <a:rPr lang="en-US" sz="2000" dirty="0">
                <a:solidFill>
                  <a:srgbClr val="0C0C0C"/>
                </a:solidFill>
                <a:latin typeface="Tinos" pitchFamily="34" charset="0"/>
                <a:ea typeface="Tinos" pitchFamily="34" charset="-122"/>
                <a:cs typeface="Tinos" pitchFamily="34" charset="-120"/>
              </a:rPr>
              <a:t>From synthetic data generation to risk-differentiated augmentation for rare-attack intrusion detection.</a:t>
            </a:r>
            <a:endParaRPr lang="en-US" sz="2000" dirty="0"/>
          </a:p>
        </p:txBody>
      </p:sp>
      <p:pic>
        <p:nvPicPr>
          <p:cNvPr id="8" name="Picture 7">
            <a:extLst>
              <a:ext uri="{FF2B5EF4-FFF2-40B4-BE49-F238E27FC236}">
                <a16:creationId xmlns:a16="http://schemas.microsoft.com/office/drawing/2014/main" id="{220F2E17-B787-F19D-A619-BA521960137E}"/>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01 · EXPERIMENT</a:t>
            </a:r>
            <a:endParaRPr lang="en-US" sz="1450" dirty="0"/>
          </a:p>
        </p:txBody>
      </p:sp>
      <p:sp>
        <p:nvSpPr>
          <p:cNvPr id="3" name="Text 1"/>
          <p:cNvSpPr/>
          <p:nvPr/>
        </p:nvSpPr>
        <p:spPr>
          <a:xfrm>
            <a:off x="609585" y="890389"/>
            <a:ext cx="10972526" cy="397669"/>
          </a:xfrm>
          <a:prstGeom prst="rect">
            <a:avLst/>
          </a:prstGeom>
          <a:noFill/>
          <a:ln/>
        </p:spPr>
        <p:txBody>
          <a:bodyPr wrap="none" lIns="0" tIns="0" rIns="0" bIns="0" rtlCol="0" anchor="t"/>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CTGAN learned the data’s style, not a record-by-record script</a:t>
            </a:r>
            <a:endParaRPr lang="en-US" sz="2900" dirty="0"/>
          </a:p>
        </p:txBody>
      </p:sp>
      <p:sp>
        <p:nvSpPr>
          <p:cNvPr id="4" name="Text 2"/>
          <p:cNvSpPr/>
          <p:nvPr/>
        </p:nvSpPr>
        <p:spPr>
          <a:xfrm>
            <a:off x="609585" y="1443633"/>
            <a:ext cx="10972526"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In the Adult dataset experiment, CTGAN was evaluated as a learner of statistical structure—not as a system that reproduces individual records line by line.</a:t>
            </a:r>
            <a:endParaRPr lang="en-US" sz="2000" dirty="0"/>
          </a:p>
        </p:txBody>
      </p:sp>
      <p:sp>
        <p:nvSpPr>
          <p:cNvPr id="5" name="Shape 3"/>
          <p:cNvSpPr/>
          <p:nvPr/>
        </p:nvSpPr>
        <p:spPr>
          <a:xfrm>
            <a:off x="609585" y="2295327"/>
            <a:ext cx="10972526" cy="31651"/>
          </a:xfrm>
          <a:prstGeom prst="roundRect">
            <a:avLst>
              <a:gd name="adj" fmla="val 49998"/>
            </a:avLst>
          </a:prstGeom>
          <a:solidFill>
            <a:srgbClr val="000000">
              <a:alpha val="8000"/>
            </a:srgbClr>
          </a:solidFill>
          <a:ln/>
        </p:spPr>
      </p:sp>
      <p:pic>
        <p:nvPicPr>
          <p:cNvPr id="6" name="Image 0" descr="preencoded.png"/>
          <p:cNvPicPr>
            <a:picLocks noChangeAspect="1"/>
          </p:cNvPicPr>
          <p:nvPr/>
        </p:nvPicPr>
        <p:blipFill>
          <a:blip r:embed="rId3"/>
          <a:stretch>
            <a:fillRect/>
          </a:stretch>
        </p:blipFill>
        <p:spPr>
          <a:xfrm>
            <a:off x="609585" y="2528689"/>
            <a:ext cx="634984" cy="635000"/>
          </a:xfrm>
          <a:prstGeom prst="rect">
            <a:avLst/>
          </a:prstGeom>
        </p:spPr>
      </p:pic>
      <p:sp>
        <p:nvSpPr>
          <p:cNvPr id="7" name="Text 4"/>
          <p:cNvSpPr/>
          <p:nvPr/>
        </p:nvSpPr>
        <p:spPr>
          <a:xfrm>
            <a:off x="609585" y="32557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Adult dataset</a:t>
            </a:r>
            <a:endParaRPr lang="en-US" sz="2300" dirty="0"/>
          </a:p>
        </p:txBody>
      </p:sp>
      <p:sp>
        <p:nvSpPr>
          <p:cNvPr id="8" name="Text 5"/>
          <p:cNvSpPr/>
          <p:nvPr/>
        </p:nvSpPr>
        <p:spPr>
          <a:xfrm>
            <a:off x="609585" y="3705721"/>
            <a:ext cx="34543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Mixed numerical and categorical attributes provide the learning surface.</a:t>
            </a:r>
            <a:endParaRPr lang="en-US" sz="2000" dirty="0"/>
          </a:p>
        </p:txBody>
      </p:sp>
      <p:pic>
        <p:nvPicPr>
          <p:cNvPr id="9" name="Image 1" descr="preencoded.png"/>
          <p:cNvPicPr>
            <a:picLocks noChangeAspect="1"/>
          </p:cNvPicPr>
          <p:nvPr/>
        </p:nvPicPr>
        <p:blipFill>
          <a:blip r:embed="rId4"/>
          <a:stretch>
            <a:fillRect/>
          </a:stretch>
        </p:blipFill>
        <p:spPr>
          <a:xfrm>
            <a:off x="4368691" y="2528689"/>
            <a:ext cx="634984" cy="635000"/>
          </a:xfrm>
          <a:prstGeom prst="rect">
            <a:avLst/>
          </a:prstGeom>
        </p:spPr>
      </p:pic>
      <p:sp>
        <p:nvSpPr>
          <p:cNvPr id="10" name="Text 6"/>
          <p:cNvSpPr/>
          <p:nvPr/>
        </p:nvSpPr>
        <p:spPr>
          <a:xfrm>
            <a:off x="4368691" y="32557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CTGAN experiment</a:t>
            </a:r>
            <a:endParaRPr lang="en-US" sz="2300" dirty="0"/>
          </a:p>
        </p:txBody>
      </p:sp>
      <p:sp>
        <p:nvSpPr>
          <p:cNvPr id="11" name="Text 7"/>
          <p:cNvSpPr/>
          <p:nvPr/>
        </p:nvSpPr>
        <p:spPr>
          <a:xfrm>
            <a:off x="4368691" y="3705721"/>
            <a:ext cx="3454314"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A conditional generator learns how the records are distributed.</a:t>
            </a:r>
            <a:endParaRPr lang="en-US" sz="2000" dirty="0"/>
          </a:p>
        </p:txBody>
      </p:sp>
      <p:pic>
        <p:nvPicPr>
          <p:cNvPr id="12" name="Image 2" descr="preencoded.png"/>
          <p:cNvPicPr>
            <a:picLocks noChangeAspect="1"/>
          </p:cNvPicPr>
          <p:nvPr/>
        </p:nvPicPr>
        <p:blipFill>
          <a:blip r:embed="rId5"/>
          <a:stretch>
            <a:fillRect/>
          </a:stretch>
        </p:blipFill>
        <p:spPr>
          <a:xfrm>
            <a:off x="8127797" y="2528689"/>
            <a:ext cx="634984" cy="635000"/>
          </a:xfrm>
          <a:prstGeom prst="rect">
            <a:avLst/>
          </a:prstGeom>
        </p:spPr>
      </p:pic>
      <p:sp>
        <p:nvSpPr>
          <p:cNvPr id="13" name="Text 8"/>
          <p:cNvSpPr/>
          <p:nvPr/>
        </p:nvSpPr>
        <p:spPr>
          <a:xfrm>
            <a:off x="8127797" y="32557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What mattered</a:t>
            </a:r>
            <a:endParaRPr lang="en-US" sz="2300" dirty="0"/>
          </a:p>
        </p:txBody>
      </p:sp>
      <p:sp>
        <p:nvSpPr>
          <p:cNvPr id="14" name="Text 9"/>
          <p:cNvSpPr/>
          <p:nvPr/>
        </p:nvSpPr>
        <p:spPr>
          <a:xfrm>
            <a:off x="8127797" y="3705721"/>
            <a:ext cx="34543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Distributions, categorical relationships, and feature correlations.</a:t>
            </a:r>
            <a:endParaRPr lang="en-US" sz="2000" dirty="0"/>
          </a:p>
        </p:txBody>
      </p:sp>
      <p:sp>
        <p:nvSpPr>
          <p:cNvPr id="15" name="Text 10"/>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pic>
        <p:nvPicPr>
          <p:cNvPr id="17" name="Picture 16">
            <a:extLst>
              <a:ext uri="{FF2B5EF4-FFF2-40B4-BE49-F238E27FC236}">
                <a16:creationId xmlns:a16="http://schemas.microsoft.com/office/drawing/2014/main" id="{420D2738-8354-64F3-9F62-D0626B3D71BE}"/>
              </a:ext>
            </a:extLst>
          </p:cNvPr>
          <p:cNvPicPr>
            <a:picLocks noChangeAspect="1"/>
          </p:cNvPicPr>
          <p:nvPr/>
        </p:nvPicPr>
        <p:blipFill>
          <a:blip r:embed="rId6"/>
          <a:stretch>
            <a:fillRect/>
          </a:stretch>
        </p:blipFill>
        <p:spPr>
          <a:xfrm>
            <a:off x="11099799" y="6264477"/>
            <a:ext cx="1006475" cy="55169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1722140"/>
            <a:ext cx="4267093"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02 · THE LEARNING IDEA</a:t>
            </a:r>
            <a:endParaRPr lang="en-US" sz="1450" dirty="0"/>
          </a:p>
        </p:txBody>
      </p:sp>
      <p:sp>
        <p:nvSpPr>
          <p:cNvPr id="3" name="Text 1"/>
          <p:cNvSpPr/>
          <p:nvPr/>
        </p:nvSpPr>
        <p:spPr>
          <a:xfrm>
            <a:off x="609585" y="2002929"/>
            <a:ext cx="4267093" cy="795337"/>
          </a:xfrm>
          <a:prstGeom prst="rect">
            <a:avLst/>
          </a:prstGeom>
          <a:noFill/>
          <a:ln/>
        </p:spPr>
        <p:txBody>
          <a:bodyPr wrap="square" lIns="0" tIns="0" rIns="0" bIns="0" rtlCol="0" anchor="t">
            <a:normAutofit lnSpcReduction="10000"/>
          </a:bodyPr>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Learn the style → generate new samples</a:t>
            </a:r>
            <a:endParaRPr lang="en-US" sz="2900" dirty="0"/>
          </a:p>
        </p:txBody>
      </p:sp>
      <p:sp>
        <p:nvSpPr>
          <p:cNvPr id="4" name="Text 2"/>
          <p:cNvSpPr/>
          <p:nvPr/>
        </p:nvSpPr>
        <p:spPr>
          <a:xfrm>
            <a:off x="609585" y="2953841"/>
            <a:ext cx="4267093"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An artist can learn a visual language without memorizing each canvas.</a:t>
            </a:r>
            <a:endParaRPr lang="en-US" sz="2000" dirty="0"/>
          </a:p>
        </p:txBody>
      </p:sp>
      <p:sp>
        <p:nvSpPr>
          <p:cNvPr id="5" name="Text 3"/>
          <p:cNvSpPr/>
          <p:nvPr/>
        </p:nvSpPr>
        <p:spPr>
          <a:xfrm>
            <a:off x="609585" y="3695998"/>
            <a:ext cx="4267093"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Likewise, a generator can learn recurring structure in a dataset and use that structure to create new, plausible records.</a:t>
            </a:r>
            <a:endParaRPr lang="en-US" sz="2000" dirty="0"/>
          </a:p>
        </p:txBody>
      </p:sp>
      <p:sp>
        <p:nvSpPr>
          <p:cNvPr id="6" name="Text 4"/>
          <p:cNvSpPr/>
          <p:nvPr/>
        </p:nvSpPr>
        <p:spPr>
          <a:xfrm>
            <a:off x="5181371" y="2183408"/>
            <a:ext cx="6400739" cy="2026444"/>
          </a:xfrm>
          <a:prstGeom prst="rect">
            <a:avLst/>
          </a:prstGeom>
          <a:noFill/>
          <a:ln/>
        </p:spPr>
        <p:txBody>
          <a:bodyPr wrap="square" lIns="0" tIns="0" rIns="0" bIns="0" rtlCol="0" anchor="t">
            <a:normAutofit/>
          </a:bodyPr>
          <a:lstStyle/>
          <a:p>
            <a:pPr marL="406400" indent="-406400" algn="l">
              <a:lnSpc>
                <a:spcPct val="107000"/>
              </a:lnSpc>
              <a:buSzPct val="100000"/>
              <a:buFont typeface="+mj-lt"/>
              <a:buAutoNum type="arabicPeriod"/>
            </a:pPr>
            <a:r>
              <a:rPr lang="en-US" sz="2000" b="1" dirty="0">
                <a:solidFill>
                  <a:srgbClr val="0C0C0C"/>
                </a:solidFill>
                <a:latin typeface="Tinos Bold" pitchFamily="34" charset="0"/>
                <a:ea typeface="Tinos Bold" pitchFamily="34" charset="-122"/>
                <a:cs typeface="Tinos Bold" pitchFamily="34" charset="-120"/>
              </a:rPr>
              <a:t>Feature distributions</a:t>
            </a:r>
            <a:r>
              <a:rPr lang="en-US" sz="2000" dirty="0">
                <a:solidFill>
                  <a:srgbClr val="0C0C0C"/>
                </a:solidFill>
                <a:latin typeface="Tinos" pitchFamily="34" charset="0"/>
                <a:ea typeface="Tinos" pitchFamily="34" charset="-122"/>
                <a:cs typeface="Tinos" pitchFamily="34" charset="-120"/>
              </a:rPr>
              <a:t> — How individual attributes tend to vary.</a:t>
            </a:r>
            <a:endParaRPr lang="en-US" sz="2000" dirty="0"/>
          </a:p>
          <a:p>
            <a:pPr marL="406400" indent="-406400" algn="l">
              <a:lnSpc>
                <a:spcPct val="107000"/>
              </a:lnSpc>
              <a:buSzPct val="100000"/>
              <a:buFont typeface="+mj-lt"/>
              <a:buAutoNum type="arabicPeriod" startAt="2"/>
            </a:pPr>
            <a:r>
              <a:rPr lang="en-US" sz="2000" b="1" dirty="0">
                <a:solidFill>
                  <a:srgbClr val="0C0C0C"/>
                </a:solidFill>
                <a:latin typeface="Tinos Bold" pitchFamily="34" charset="0"/>
                <a:ea typeface="Tinos Bold" pitchFamily="34" charset="-122"/>
                <a:cs typeface="Tinos Bold" pitchFamily="34" charset="-120"/>
              </a:rPr>
              <a:t>Categorical relationships</a:t>
            </a:r>
            <a:r>
              <a:rPr lang="en-US" sz="2000" dirty="0">
                <a:solidFill>
                  <a:srgbClr val="0C0C0C"/>
                </a:solidFill>
                <a:latin typeface="Tinos" pitchFamily="34" charset="0"/>
                <a:ea typeface="Tinos" pitchFamily="34" charset="-122"/>
                <a:cs typeface="Tinos" pitchFamily="34" charset="-120"/>
              </a:rPr>
              <a:t> — Which categories appear together.</a:t>
            </a:r>
            <a:endParaRPr lang="en-US" sz="2000" dirty="0"/>
          </a:p>
          <a:p>
            <a:pPr marL="406400" indent="-406400" algn="l">
              <a:lnSpc>
                <a:spcPct val="107000"/>
              </a:lnSpc>
              <a:buSzPct val="100000"/>
              <a:buFont typeface="+mj-lt"/>
              <a:buAutoNum type="arabicPeriod" startAt="3"/>
            </a:pPr>
            <a:r>
              <a:rPr lang="en-US" sz="2000" b="1" dirty="0">
                <a:solidFill>
                  <a:srgbClr val="0C0C0C"/>
                </a:solidFill>
                <a:latin typeface="Tinos Bold" pitchFamily="34" charset="0"/>
                <a:ea typeface="Tinos Bold" pitchFamily="34" charset="-122"/>
                <a:cs typeface="Tinos Bold" pitchFamily="34" charset="-120"/>
              </a:rPr>
              <a:t>Cross-feature correlations</a:t>
            </a:r>
            <a:r>
              <a:rPr lang="en-US" sz="2000" dirty="0">
                <a:solidFill>
                  <a:srgbClr val="0C0C0C"/>
                </a:solidFill>
                <a:latin typeface="Tinos" pitchFamily="34" charset="0"/>
                <a:ea typeface="Tinos" pitchFamily="34" charset="-122"/>
                <a:cs typeface="Tinos" pitchFamily="34" charset="-120"/>
              </a:rPr>
              <a:t> — How attributes move together across records.</a:t>
            </a:r>
            <a:endParaRPr lang="en-US" sz="2000" dirty="0"/>
          </a:p>
        </p:txBody>
      </p:sp>
      <p:sp>
        <p:nvSpPr>
          <p:cNvPr id="7" name="Text 5"/>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8" name="Text 6"/>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3</a:t>
            </a:r>
            <a:endParaRPr lang="en-US" sz="1400" dirty="0"/>
          </a:p>
        </p:txBody>
      </p:sp>
      <p:pic>
        <p:nvPicPr>
          <p:cNvPr id="9" name="Picture 8">
            <a:extLst>
              <a:ext uri="{FF2B5EF4-FFF2-40B4-BE49-F238E27FC236}">
                <a16:creationId xmlns:a16="http://schemas.microsoft.com/office/drawing/2014/main" id="{55F31567-7CFD-A8B7-76E9-03EBEF961827}"/>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1677789"/>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03 · PRIVACY QUESTION</a:t>
            </a:r>
            <a:endParaRPr lang="en-US" sz="1450" dirty="0"/>
          </a:p>
        </p:txBody>
      </p:sp>
      <p:sp>
        <p:nvSpPr>
          <p:cNvPr id="3" name="Text 1"/>
          <p:cNvSpPr/>
          <p:nvPr/>
        </p:nvSpPr>
        <p:spPr>
          <a:xfrm>
            <a:off x="609585" y="1958578"/>
            <a:ext cx="10972526" cy="548580"/>
          </a:xfrm>
          <a:prstGeom prst="rect">
            <a:avLst/>
          </a:prstGeom>
          <a:noFill/>
          <a:ln/>
        </p:spPr>
        <p:txBody>
          <a:bodyPr wrap="none" lIns="0" tIns="0" rIns="0" bIns="0" rtlCol="0" anchor="t"/>
          <a:lstStyle/>
          <a:p>
            <a:pPr marL="0" indent="0" algn="l">
              <a:lnSpc>
                <a:spcPct val="90000"/>
              </a:lnSpc>
              <a:buNone/>
            </a:pPr>
            <a:r>
              <a:rPr lang="en-US" sz="4000" b="1" kern="0" spc="-32" dirty="0">
                <a:solidFill>
                  <a:srgbClr val="0C0C0C"/>
                </a:solidFill>
                <a:latin typeface="Tinos Bold" pitchFamily="34" charset="0"/>
                <a:ea typeface="Tinos Bold" pitchFamily="34" charset="-122"/>
                <a:cs typeface="Tinos Bold" pitchFamily="34" charset="-120"/>
              </a:rPr>
              <a:t>But statistical learning is not a privacy guarantee.</a:t>
            </a:r>
            <a:endParaRPr lang="en-US" sz="4000" dirty="0"/>
          </a:p>
        </p:txBody>
      </p:sp>
      <p:sp>
        <p:nvSpPr>
          <p:cNvPr id="4" name="Shape 2"/>
          <p:cNvSpPr/>
          <p:nvPr/>
        </p:nvSpPr>
        <p:spPr>
          <a:xfrm>
            <a:off x="609585" y="2724646"/>
            <a:ext cx="10972526" cy="31651"/>
          </a:xfrm>
          <a:prstGeom prst="roundRect">
            <a:avLst>
              <a:gd name="adj" fmla="val 49998"/>
            </a:avLst>
          </a:prstGeom>
          <a:solidFill>
            <a:srgbClr val="000000">
              <a:alpha val="8000"/>
            </a:srgbClr>
          </a:solidFill>
          <a:ln/>
        </p:spPr>
      </p:sp>
      <p:sp>
        <p:nvSpPr>
          <p:cNvPr id="5" name="Text 3"/>
          <p:cNvSpPr/>
          <p:nvPr/>
        </p:nvSpPr>
        <p:spPr>
          <a:xfrm>
            <a:off x="609585" y="3186609"/>
            <a:ext cx="3352716" cy="975122"/>
          </a:xfrm>
          <a:prstGeom prst="rect">
            <a:avLst/>
          </a:prstGeom>
          <a:noFill/>
          <a:ln/>
        </p:spPr>
        <p:txBody>
          <a:bodyPr wrap="square" lIns="0" tIns="0" rIns="0" bIns="0" rtlCol="0" anchor="t">
            <a:normAutofit/>
          </a:bodyPr>
          <a:lstStyle/>
          <a:p>
            <a:pPr marL="0" indent="0" algn="l">
              <a:lnSpc>
                <a:spcPct val="107000"/>
              </a:lnSpc>
              <a:buNone/>
            </a:pPr>
            <a:r>
              <a:rPr lang="en-US" sz="2000" b="1" dirty="0">
                <a:solidFill>
                  <a:srgbClr val="1A1A8C"/>
                </a:solidFill>
                <a:latin typeface="Tinos Bold" pitchFamily="34" charset="0"/>
                <a:ea typeface="Tinos Bold" pitchFamily="34" charset="-122"/>
                <a:cs typeface="Tinos Bold" pitchFamily="34" charset="-120"/>
              </a:rPr>
              <a:t>Pattern learning</a:t>
            </a:r>
            <a:endParaRPr lang="en-US" sz="2000" dirty="0"/>
          </a:p>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describes what the generator captures.</a:t>
            </a:r>
            <a:endParaRPr lang="en-US" sz="2000" dirty="0"/>
          </a:p>
        </p:txBody>
      </p:sp>
      <p:sp>
        <p:nvSpPr>
          <p:cNvPr id="6" name="Text 4"/>
          <p:cNvSpPr/>
          <p:nvPr/>
        </p:nvSpPr>
        <p:spPr>
          <a:xfrm>
            <a:off x="4419489" y="3186609"/>
            <a:ext cx="3352716" cy="975122"/>
          </a:xfrm>
          <a:prstGeom prst="rect">
            <a:avLst/>
          </a:prstGeom>
          <a:noFill/>
          <a:ln/>
        </p:spPr>
        <p:txBody>
          <a:bodyPr wrap="square" lIns="0" tIns="0" rIns="0" bIns="0" rtlCol="0" anchor="t">
            <a:normAutofit/>
          </a:bodyPr>
          <a:lstStyle/>
          <a:p>
            <a:pPr marL="0" indent="0" algn="l">
              <a:lnSpc>
                <a:spcPct val="107000"/>
              </a:lnSpc>
              <a:buNone/>
            </a:pPr>
            <a:r>
              <a:rPr lang="en-US" sz="2000" b="1" dirty="0">
                <a:solidFill>
                  <a:srgbClr val="B42318"/>
                </a:solidFill>
                <a:latin typeface="Tinos Bold" pitchFamily="34" charset="0"/>
                <a:ea typeface="Tinos Bold" pitchFamily="34" charset="-122"/>
                <a:cs typeface="Tinos Bold" pitchFamily="34" charset="-120"/>
              </a:rPr>
              <a:t>Privacy protection</a:t>
            </a:r>
            <a:endParaRPr lang="en-US" sz="2000" dirty="0"/>
          </a:p>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requires testing what the generator may reveal.</a:t>
            </a:r>
            <a:endParaRPr lang="en-US" sz="2000" dirty="0"/>
          </a:p>
        </p:txBody>
      </p:sp>
      <p:sp>
        <p:nvSpPr>
          <p:cNvPr id="7" name="Shape 5"/>
          <p:cNvSpPr/>
          <p:nvPr/>
        </p:nvSpPr>
        <p:spPr>
          <a:xfrm>
            <a:off x="8229394" y="2958009"/>
            <a:ext cx="3352716" cy="1757362"/>
          </a:xfrm>
          <a:prstGeom prst="rect">
            <a:avLst/>
          </a:prstGeom>
          <a:solidFill>
            <a:srgbClr val="F5EAEA"/>
          </a:solidFill>
          <a:ln/>
        </p:spPr>
      </p:sp>
      <p:sp>
        <p:nvSpPr>
          <p:cNvPr id="8" name="Text 6"/>
          <p:cNvSpPr/>
          <p:nvPr/>
        </p:nvSpPr>
        <p:spPr>
          <a:xfrm>
            <a:off x="8457988" y="3186609"/>
            <a:ext cx="2895528" cy="1300163"/>
          </a:xfrm>
          <a:prstGeom prst="rect">
            <a:avLst/>
          </a:prstGeom>
          <a:noFill/>
          <a:ln/>
        </p:spPr>
        <p:txBody>
          <a:bodyPr wrap="square" lIns="0" tIns="0" rIns="0" bIns="0" rtlCol="0" anchor="t">
            <a:normAutofit/>
          </a:bodyPr>
          <a:lstStyle/>
          <a:p>
            <a:pPr marL="0" indent="0" algn="l">
              <a:lnSpc>
                <a:spcPct val="107000"/>
              </a:lnSpc>
              <a:buNone/>
            </a:pPr>
            <a:r>
              <a:rPr lang="en-US" sz="2000" b="1" dirty="0">
                <a:solidFill>
                  <a:srgbClr val="B42318"/>
                </a:solidFill>
                <a:latin typeface="Tinos Bold" pitchFamily="34" charset="0"/>
                <a:ea typeface="Tinos Bold" pitchFamily="34" charset="-122"/>
                <a:cs typeface="Tinos Bold" pitchFamily="34" charset="-120"/>
              </a:rPr>
              <a:t>Open risk</a:t>
            </a:r>
            <a:endParaRPr lang="en-US" sz="2000" dirty="0"/>
          </a:p>
          <a:p>
            <a:pPr marL="0" indent="0" algn="l">
              <a:lnSpc>
                <a:spcPct val="107000"/>
              </a:lnSpc>
              <a:buNone/>
            </a:pPr>
            <a:r>
              <a:rPr lang="en-US" sz="2000" dirty="0">
                <a:solidFill>
                  <a:srgbClr val="000000"/>
                </a:solidFill>
                <a:latin typeface="Tinos" pitchFamily="34" charset="0"/>
                <a:ea typeface="Tinos" pitchFamily="34" charset="-122"/>
                <a:cs typeface="Tinos" pitchFamily="34" charset="-120"/>
              </a:rPr>
              <a:t>A generator may still memorize some training records.</a:t>
            </a:r>
            <a:endParaRPr lang="en-US" sz="2000" dirty="0"/>
          </a:p>
        </p:txBody>
      </p:sp>
      <p:sp>
        <p:nvSpPr>
          <p:cNvPr id="9" name="Text 7"/>
          <p:cNvSpPr/>
          <p:nvPr/>
        </p:nvSpPr>
        <p:spPr>
          <a:xfrm>
            <a:off x="609585" y="4855071"/>
            <a:ext cx="11582110" cy="325041"/>
          </a:xfrm>
          <a:prstGeom prst="rect">
            <a:avLst/>
          </a:prstGeom>
          <a:noFill/>
          <a:ln/>
        </p:spPr>
        <p:txBody>
          <a:bodyPr wrap="none" lIns="0" tIns="0" rIns="0" bIns="0" rtlCol="0" anchor="t"/>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The practical question becomes: can generated data reveal whether a specific record was in the training set?</a:t>
            </a:r>
            <a:endParaRPr lang="en-US" sz="2000" dirty="0"/>
          </a:p>
        </p:txBody>
      </p:sp>
      <p:sp>
        <p:nvSpPr>
          <p:cNvPr id="10" name="Text 8"/>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11" name="Text 9"/>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4</a:t>
            </a:r>
            <a:endParaRPr lang="en-US" sz="1400" dirty="0"/>
          </a:p>
        </p:txBody>
      </p:sp>
      <p:pic>
        <p:nvPicPr>
          <p:cNvPr id="12" name="Picture 11">
            <a:extLst>
              <a:ext uri="{FF2B5EF4-FFF2-40B4-BE49-F238E27FC236}">
                <a16:creationId xmlns:a16="http://schemas.microsoft.com/office/drawing/2014/main" id="{6ECD1E89-C1F7-B825-418F-668ACAFD081C}"/>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09600"/>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04 · TESTABLE PRIVACY</a:t>
            </a:r>
            <a:endParaRPr lang="en-US" sz="1450" dirty="0"/>
          </a:p>
        </p:txBody>
      </p:sp>
      <p:sp>
        <p:nvSpPr>
          <p:cNvPr id="3" name="Text 1"/>
          <p:cNvSpPr/>
          <p:nvPr/>
        </p:nvSpPr>
        <p:spPr>
          <a:xfrm>
            <a:off x="609585" y="890389"/>
            <a:ext cx="10972526" cy="397669"/>
          </a:xfrm>
          <a:prstGeom prst="rect">
            <a:avLst/>
          </a:prstGeom>
          <a:noFill/>
          <a:ln/>
        </p:spPr>
        <p:txBody>
          <a:bodyPr wrap="none" lIns="0" tIns="0" rIns="0" bIns="0" rtlCol="0" anchor="t"/>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Membership Inference Attacks make the privacy question testable</a:t>
            </a:r>
            <a:endParaRPr lang="en-US" sz="2900" dirty="0"/>
          </a:p>
        </p:txBody>
      </p:sp>
      <p:sp>
        <p:nvSpPr>
          <p:cNvPr id="4" name="Text 2"/>
          <p:cNvSpPr/>
          <p:nvPr/>
        </p:nvSpPr>
        <p:spPr>
          <a:xfrm>
            <a:off x="609585" y="1443633"/>
            <a:ext cx="10972526"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Instead of treating privacy as an assumption, membership inference turns it into a record-level measurement.</a:t>
            </a:r>
            <a:endParaRPr lang="en-US" sz="2000" dirty="0"/>
          </a:p>
        </p:txBody>
      </p:sp>
      <p:sp>
        <p:nvSpPr>
          <p:cNvPr id="5" name="Text 3"/>
          <p:cNvSpPr/>
          <p:nvPr/>
        </p:nvSpPr>
        <p:spPr>
          <a:xfrm>
            <a:off x="609585" y="2233414"/>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01</a:t>
            </a:r>
            <a:endParaRPr lang="en-US" sz="2000" dirty="0"/>
          </a:p>
        </p:txBody>
      </p:sp>
      <p:sp>
        <p:nvSpPr>
          <p:cNvPr id="6" name="Shape 4"/>
          <p:cNvSpPr/>
          <p:nvPr/>
        </p:nvSpPr>
        <p:spPr>
          <a:xfrm>
            <a:off x="609585" y="2589014"/>
            <a:ext cx="3454314" cy="19050"/>
          </a:xfrm>
          <a:prstGeom prst="rect">
            <a:avLst/>
          </a:prstGeom>
          <a:solidFill>
            <a:srgbClr val="1A1A8C"/>
          </a:solidFill>
          <a:ln/>
        </p:spPr>
      </p:sp>
      <p:sp>
        <p:nvSpPr>
          <p:cNvPr id="7" name="Text 5"/>
          <p:cNvSpPr/>
          <p:nvPr/>
        </p:nvSpPr>
        <p:spPr>
          <a:xfrm>
            <a:off x="609585" y="27604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Train or query</a:t>
            </a:r>
            <a:endParaRPr lang="en-US" sz="2300" dirty="0"/>
          </a:p>
        </p:txBody>
      </p:sp>
      <p:sp>
        <p:nvSpPr>
          <p:cNvPr id="8" name="Text 6"/>
          <p:cNvSpPr/>
          <p:nvPr/>
        </p:nvSpPr>
        <p:spPr>
          <a:xfrm>
            <a:off x="609585" y="3210421"/>
            <a:ext cx="34543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Interact with the generator or its outputs using an attack procedure.</a:t>
            </a:r>
            <a:endParaRPr lang="en-US" sz="2000" dirty="0"/>
          </a:p>
        </p:txBody>
      </p:sp>
      <p:sp>
        <p:nvSpPr>
          <p:cNvPr id="9" name="Text 7"/>
          <p:cNvSpPr/>
          <p:nvPr/>
        </p:nvSpPr>
        <p:spPr>
          <a:xfrm>
            <a:off x="4368691" y="2233414"/>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02</a:t>
            </a:r>
            <a:endParaRPr lang="en-US" sz="2000" dirty="0"/>
          </a:p>
        </p:txBody>
      </p:sp>
      <p:sp>
        <p:nvSpPr>
          <p:cNvPr id="10" name="Shape 8"/>
          <p:cNvSpPr/>
          <p:nvPr/>
        </p:nvSpPr>
        <p:spPr>
          <a:xfrm>
            <a:off x="4368691" y="2589014"/>
            <a:ext cx="3454314" cy="19050"/>
          </a:xfrm>
          <a:prstGeom prst="rect">
            <a:avLst/>
          </a:prstGeom>
          <a:solidFill>
            <a:srgbClr val="1A1A8C"/>
          </a:solidFill>
          <a:ln/>
        </p:spPr>
      </p:sp>
      <p:sp>
        <p:nvSpPr>
          <p:cNvPr id="11" name="Text 9"/>
          <p:cNvSpPr/>
          <p:nvPr/>
        </p:nvSpPr>
        <p:spPr>
          <a:xfrm>
            <a:off x="4368691" y="27604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Score resemblance</a:t>
            </a:r>
            <a:endParaRPr lang="en-US" sz="2300" dirty="0"/>
          </a:p>
        </p:txBody>
      </p:sp>
      <p:sp>
        <p:nvSpPr>
          <p:cNvPr id="12" name="Text 10"/>
          <p:cNvSpPr/>
          <p:nvPr/>
        </p:nvSpPr>
        <p:spPr>
          <a:xfrm>
            <a:off x="4368691" y="3210421"/>
            <a:ext cx="34543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Estimate whether a target record looks like a member of the training data.</a:t>
            </a:r>
            <a:endParaRPr lang="en-US" sz="2000" dirty="0"/>
          </a:p>
        </p:txBody>
      </p:sp>
      <p:sp>
        <p:nvSpPr>
          <p:cNvPr id="13" name="Text 11"/>
          <p:cNvSpPr/>
          <p:nvPr/>
        </p:nvSpPr>
        <p:spPr>
          <a:xfrm>
            <a:off x="8127797" y="2233414"/>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03</a:t>
            </a:r>
            <a:endParaRPr lang="en-US" sz="2000" dirty="0"/>
          </a:p>
        </p:txBody>
      </p:sp>
      <p:sp>
        <p:nvSpPr>
          <p:cNvPr id="14" name="Shape 12"/>
          <p:cNvSpPr/>
          <p:nvPr/>
        </p:nvSpPr>
        <p:spPr>
          <a:xfrm>
            <a:off x="8127797" y="2589014"/>
            <a:ext cx="3454314" cy="19050"/>
          </a:xfrm>
          <a:prstGeom prst="rect">
            <a:avLst/>
          </a:prstGeom>
          <a:solidFill>
            <a:srgbClr val="1A1A8C"/>
          </a:solidFill>
          <a:ln/>
        </p:spPr>
      </p:sp>
      <p:sp>
        <p:nvSpPr>
          <p:cNvPr id="15" name="Text 13"/>
          <p:cNvSpPr/>
          <p:nvPr/>
        </p:nvSpPr>
        <p:spPr>
          <a:xfrm>
            <a:off x="8127797" y="2760464"/>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Measure leakage</a:t>
            </a:r>
            <a:endParaRPr lang="en-US" sz="2300" dirty="0"/>
          </a:p>
        </p:txBody>
      </p:sp>
      <p:sp>
        <p:nvSpPr>
          <p:cNvPr id="16" name="Text 14"/>
          <p:cNvSpPr/>
          <p:nvPr/>
        </p:nvSpPr>
        <p:spPr>
          <a:xfrm>
            <a:off x="8127797" y="3210421"/>
            <a:ext cx="3454314"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Summarize membership risk at the individual-record level.</a:t>
            </a:r>
            <a:endParaRPr lang="en-US" sz="2000" dirty="0"/>
          </a:p>
        </p:txBody>
      </p:sp>
      <p:sp>
        <p:nvSpPr>
          <p:cNvPr id="17" name="Text 15"/>
          <p:cNvSpPr/>
          <p:nvPr/>
        </p:nvSpPr>
        <p:spPr>
          <a:xfrm>
            <a:off x="609585" y="4325243"/>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0C0C0C"/>
                </a:solidFill>
                <a:latin typeface="Tinos" pitchFamily="34" charset="0"/>
                <a:ea typeface="Tinos" pitchFamily="34" charset="-122"/>
                <a:cs typeface="Tinos" pitchFamily="34" charset="-120"/>
              </a:rPr>
              <a:t>MIA does not ask whether the synthetic dataset looks realistic; it asks whether realism comes with evidence of membership.</a:t>
            </a:r>
            <a:endParaRPr lang="en-US" sz="1600" dirty="0"/>
          </a:p>
        </p:txBody>
      </p:sp>
      <p:sp>
        <p:nvSpPr>
          <p:cNvPr id="18" name="Text 16"/>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19" name="Text 17"/>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5</a:t>
            </a:r>
            <a:endParaRPr lang="en-US" sz="1400" dirty="0"/>
          </a:p>
        </p:txBody>
      </p:sp>
      <p:pic>
        <p:nvPicPr>
          <p:cNvPr id="20" name="Picture 19">
            <a:extLst>
              <a:ext uri="{FF2B5EF4-FFF2-40B4-BE49-F238E27FC236}">
                <a16:creationId xmlns:a16="http://schemas.microsoft.com/office/drawing/2014/main" id="{D9F8AC70-7059-2E20-9CC5-1C1F526590AE}"/>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05 · CYBERSECURITY USE CASE</a:t>
            </a:r>
            <a:endParaRPr lang="en-US" sz="1450" dirty="0"/>
          </a:p>
        </p:txBody>
      </p:sp>
      <p:sp>
        <p:nvSpPr>
          <p:cNvPr id="3" name="Text 1"/>
          <p:cNvSpPr/>
          <p:nvPr/>
        </p:nvSpPr>
        <p:spPr>
          <a:xfrm>
            <a:off x="609585" y="890389"/>
            <a:ext cx="10972526" cy="397669"/>
          </a:xfrm>
          <a:prstGeom prst="rect">
            <a:avLst/>
          </a:prstGeom>
          <a:noFill/>
          <a:ln/>
        </p:spPr>
        <p:txBody>
          <a:bodyPr wrap="none" lIns="0" tIns="0" rIns="0" bIns="0" rtlCol="0" anchor="t"/>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Cybersecurity raises the stakes: rare attacks matter</a:t>
            </a:r>
            <a:endParaRPr lang="en-US" sz="2900" dirty="0"/>
          </a:p>
        </p:txBody>
      </p:sp>
      <p:sp>
        <p:nvSpPr>
          <p:cNvPr id="4" name="Text 2"/>
          <p:cNvSpPr/>
          <p:nvPr/>
        </p:nvSpPr>
        <p:spPr>
          <a:xfrm>
            <a:off x="609585" y="1443633"/>
            <a:ext cx="10972526"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Moving from Adult to network-traffic and IDS datasets changes the operational question. A rare pattern may be especially valuable for detection—and especially sensitive to privacy risk.</a:t>
            </a:r>
            <a:endParaRPr lang="en-US" sz="2000" dirty="0"/>
          </a:p>
        </p:txBody>
      </p:sp>
      <p:pic>
        <p:nvPicPr>
          <p:cNvPr id="5" name="Image 0" descr="preencoded.png"/>
          <p:cNvPicPr>
            <a:picLocks noChangeAspect="1"/>
          </p:cNvPicPr>
          <p:nvPr/>
        </p:nvPicPr>
        <p:blipFill>
          <a:blip r:embed="rId3"/>
          <a:stretch>
            <a:fillRect/>
          </a:stretch>
        </p:blipFill>
        <p:spPr>
          <a:xfrm>
            <a:off x="609585" y="2233414"/>
            <a:ext cx="507987" cy="508000"/>
          </a:xfrm>
          <a:prstGeom prst="rect">
            <a:avLst/>
          </a:prstGeom>
        </p:spPr>
      </p:pic>
      <p:sp>
        <p:nvSpPr>
          <p:cNvPr id="6" name="Text 3"/>
          <p:cNvSpPr/>
          <p:nvPr/>
        </p:nvSpPr>
        <p:spPr>
          <a:xfrm>
            <a:off x="609585" y="2833489"/>
            <a:ext cx="34289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Network traffic</a:t>
            </a:r>
            <a:endParaRPr lang="en-US" sz="2300" dirty="0"/>
          </a:p>
        </p:txBody>
      </p:sp>
      <p:sp>
        <p:nvSpPr>
          <p:cNvPr id="7" name="Text 4"/>
          <p:cNvSpPr/>
          <p:nvPr/>
        </p:nvSpPr>
        <p:spPr>
          <a:xfrm>
            <a:off x="609585" y="3283446"/>
            <a:ext cx="34289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Records describe flows, behaviors, and attack-relevant signals.</a:t>
            </a:r>
            <a:endParaRPr lang="en-US" sz="2000" dirty="0"/>
          </a:p>
        </p:txBody>
      </p:sp>
      <p:pic>
        <p:nvPicPr>
          <p:cNvPr id="8" name="Image 1" descr="preencoded.png"/>
          <p:cNvPicPr>
            <a:picLocks noChangeAspect="1"/>
          </p:cNvPicPr>
          <p:nvPr/>
        </p:nvPicPr>
        <p:blipFill>
          <a:blip r:embed="rId4"/>
          <a:stretch>
            <a:fillRect/>
          </a:stretch>
        </p:blipFill>
        <p:spPr>
          <a:xfrm>
            <a:off x="4495688" y="2233414"/>
            <a:ext cx="507987" cy="508000"/>
          </a:xfrm>
          <a:prstGeom prst="rect">
            <a:avLst/>
          </a:prstGeom>
        </p:spPr>
      </p:pic>
      <p:sp>
        <p:nvSpPr>
          <p:cNvPr id="9" name="Text 5"/>
          <p:cNvSpPr/>
          <p:nvPr/>
        </p:nvSpPr>
        <p:spPr>
          <a:xfrm>
            <a:off x="4495688" y="2833489"/>
            <a:ext cx="3200320"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Class imbalance</a:t>
            </a:r>
            <a:endParaRPr lang="en-US" sz="2300" dirty="0"/>
          </a:p>
        </p:txBody>
      </p:sp>
      <p:sp>
        <p:nvSpPr>
          <p:cNvPr id="10" name="Text 6"/>
          <p:cNvSpPr/>
          <p:nvPr/>
        </p:nvSpPr>
        <p:spPr>
          <a:xfrm>
            <a:off x="4495688" y="3283446"/>
            <a:ext cx="3200320"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Common attacks dominate the data, leaving rare classes thin.</a:t>
            </a:r>
            <a:endParaRPr lang="en-US" sz="2000" dirty="0"/>
          </a:p>
        </p:txBody>
      </p:sp>
      <p:pic>
        <p:nvPicPr>
          <p:cNvPr id="11" name="Image 2" descr="preencoded.png"/>
          <p:cNvPicPr>
            <a:picLocks noChangeAspect="1"/>
          </p:cNvPicPr>
          <p:nvPr/>
        </p:nvPicPr>
        <p:blipFill>
          <a:blip r:embed="rId5"/>
          <a:stretch>
            <a:fillRect/>
          </a:stretch>
        </p:blipFill>
        <p:spPr>
          <a:xfrm>
            <a:off x="8153196" y="2233414"/>
            <a:ext cx="507987" cy="508000"/>
          </a:xfrm>
          <a:prstGeom prst="rect">
            <a:avLst/>
          </a:prstGeom>
        </p:spPr>
      </p:pic>
      <p:sp>
        <p:nvSpPr>
          <p:cNvPr id="12" name="Text 7"/>
          <p:cNvSpPr/>
          <p:nvPr/>
        </p:nvSpPr>
        <p:spPr>
          <a:xfrm>
            <a:off x="8153196" y="2833489"/>
            <a:ext cx="34289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Dual sensitivity</a:t>
            </a:r>
            <a:endParaRPr lang="en-US" sz="2300" dirty="0"/>
          </a:p>
        </p:txBody>
      </p:sp>
      <p:sp>
        <p:nvSpPr>
          <p:cNvPr id="13" name="Text 8"/>
          <p:cNvSpPr/>
          <p:nvPr/>
        </p:nvSpPr>
        <p:spPr>
          <a:xfrm>
            <a:off x="8153196" y="3283446"/>
            <a:ext cx="3428914" cy="975122"/>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B42318"/>
                </a:solidFill>
                <a:latin typeface="Tinos" pitchFamily="34" charset="0"/>
                <a:ea typeface="Tinos" pitchFamily="34" charset="-122"/>
                <a:cs typeface="Tinos" pitchFamily="34" charset="-120"/>
              </a:rPr>
              <a:t>Rare patterns are valuable for detection—and sensitive to privacy risk.</a:t>
            </a:r>
            <a:endParaRPr lang="en-US" sz="2000" dirty="0"/>
          </a:p>
        </p:txBody>
      </p:sp>
      <p:sp>
        <p:nvSpPr>
          <p:cNvPr id="14" name="Shape 9"/>
          <p:cNvSpPr/>
          <p:nvPr/>
        </p:nvSpPr>
        <p:spPr>
          <a:xfrm>
            <a:off x="4260743" y="2233414"/>
            <a:ext cx="12700" cy="2025154"/>
          </a:xfrm>
          <a:prstGeom prst="rect">
            <a:avLst/>
          </a:prstGeom>
          <a:solidFill>
            <a:srgbClr val="000000">
              <a:alpha val="8000"/>
            </a:srgbClr>
          </a:solidFill>
          <a:ln/>
        </p:spPr>
      </p:sp>
      <p:sp>
        <p:nvSpPr>
          <p:cNvPr id="15" name="Shape 10"/>
          <p:cNvSpPr/>
          <p:nvPr/>
        </p:nvSpPr>
        <p:spPr>
          <a:xfrm>
            <a:off x="7918252" y="2233414"/>
            <a:ext cx="12700" cy="2025154"/>
          </a:xfrm>
          <a:prstGeom prst="rect">
            <a:avLst/>
          </a:prstGeom>
          <a:solidFill>
            <a:srgbClr val="000000">
              <a:alpha val="8000"/>
            </a:srgbClr>
          </a:solidFill>
          <a:ln/>
        </p:spPr>
      </p:sp>
      <p:sp>
        <p:nvSpPr>
          <p:cNvPr id="16" name="Text 11"/>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17" name="Text 12"/>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6</a:t>
            </a:r>
            <a:endParaRPr lang="en-US" sz="1400" dirty="0"/>
          </a:p>
        </p:txBody>
      </p:sp>
      <p:pic>
        <p:nvPicPr>
          <p:cNvPr id="18" name="Picture 17">
            <a:extLst>
              <a:ext uri="{FF2B5EF4-FFF2-40B4-BE49-F238E27FC236}">
                <a16:creationId xmlns:a16="http://schemas.microsoft.com/office/drawing/2014/main" id="{09444ABB-DFF2-9F9C-531B-6542FB5D0E03}"/>
              </a:ext>
            </a:extLst>
          </p:cNvPr>
          <p:cNvPicPr>
            <a:picLocks noChangeAspect="1"/>
          </p:cNvPicPr>
          <p:nvPr/>
        </p:nvPicPr>
        <p:blipFill>
          <a:blip r:embed="rId6"/>
          <a:stretch>
            <a:fillRect/>
          </a:stretch>
        </p:blipFill>
        <p:spPr>
          <a:xfrm>
            <a:off x="11099799" y="6264477"/>
            <a:ext cx="1006475" cy="5516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1607741"/>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06 · AUGMENTATION OPPORTUNITY</a:t>
            </a:r>
            <a:endParaRPr lang="en-US" sz="1450" dirty="0"/>
          </a:p>
        </p:txBody>
      </p:sp>
      <p:sp>
        <p:nvSpPr>
          <p:cNvPr id="3" name="Text 1"/>
          <p:cNvSpPr/>
          <p:nvPr/>
        </p:nvSpPr>
        <p:spPr>
          <a:xfrm>
            <a:off x="609585" y="1888530"/>
            <a:ext cx="10972526" cy="397669"/>
          </a:xfrm>
          <a:prstGeom prst="rect">
            <a:avLst/>
          </a:prstGeom>
          <a:noFill/>
          <a:ln/>
        </p:spPr>
        <p:txBody>
          <a:bodyPr wrap="none" lIns="0" tIns="0" rIns="0" bIns="0" rtlCol="0" anchor="t"/>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Synthetic augmentation can strengthen rare-attack IDS coverage</a:t>
            </a:r>
            <a:endParaRPr lang="en-US" sz="2900" dirty="0"/>
          </a:p>
        </p:txBody>
      </p:sp>
      <p:sp>
        <p:nvSpPr>
          <p:cNvPr id="4" name="Text 2"/>
          <p:cNvSpPr/>
          <p:nvPr/>
        </p:nvSpPr>
        <p:spPr>
          <a:xfrm>
            <a:off x="609585" y="2441773"/>
            <a:ext cx="10972526"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Use synthetic records to expand underrepresented attack classes without treating every generated record as equally safe.</a:t>
            </a:r>
            <a:endParaRPr lang="en-US" sz="2000" dirty="0"/>
          </a:p>
        </p:txBody>
      </p:sp>
      <p:sp>
        <p:nvSpPr>
          <p:cNvPr id="5" name="Text 3"/>
          <p:cNvSpPr/>
          <p:nvPr/>
        </p:nvSpPr>
        <p:spPr>
          <a:xfrm>
            <a:off x="609585" y="3231555"/>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01</a:t>
            </a:r>
            <a:endParaRPr lang="en-US" sz="2000" dirty="0"/>
          </a:p>
        </p:txBody>
      </p:sp>
      <p:sp>
        <p:nvSpPr>
          <p:cNvPr id="6" name="Shape 4"/>
          <p:cNvSpPr/>
          <p:nvPr/>
        </p:nvSpPr>
        <p:spPr>
          <a:xfrm>
            <a:off x="609585" y="3587155"/>
            <a:ext cx="3454314" cy="19050"/>
          </a:xfrm>
          <a:prstGeom prst="rect">
            <a:avLst/>
          </a:prstGeom>
          <a:solidFill>
            <a:srgbClr val="1A1A8C"/>
          </a:solidFill>
          <a:ln/>
        </p:spPr>
      </p:sp>
      <p:sp>
        <p:nvSpPr>
          <p:cNvPr id="7" name="Text 5"/>
          <p:cNvSpPr/>
          <p:nvPr/>
        </p:nvSpPr>
        <p:spPr>
          <a:xfrm>
            <a:off x="609585" y="3758605"/>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Augment rare attacks</a:t>
            </a:r>
            <a:endParaRPr lang="en-US" sz="2300" dirty="0"/>
          </a:p>
        </p:txBody>
      </p:sp>
      <p:sp>
        <p:nvSpPr>
          <p:cNvPr id="8" name="Text 6"/>
          <p:cNvSpPr/>
          <p:nvPr/>
        </p:nvSpPr>
        <p:spPr>
          <a:xfrm>
            <a:off x="609585" y="4208562"/>
            <a:ext cx="3454314"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Add synthetic examples where observed coverage is thin.</a:t>
            </a:r>
            <a:endParaRPr lang="en-US" sz="2000" dirty="0"/>
          </a:p>
        </p:txBody>
      </p:sp>
      <p:sp>
        <p:nvSpPr>
          <p:cNvPr id="9" name="Text 7"/>
          <p:cNvSpPr/>
          <p:nvPr/>
        </p:nvSpPr>
        <p:spPr>
          <a:xfrm>
            <a:off x="4368691" y="3231555"/>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02</a:t>
            </a:r>
            <a:endParaRPr lang="en-US" sz="2000" dirty="0"/>
          </a:p>
        </p:txBody>
      </p:sp>
      <p:sp>
        <p:nvSpPr>
          <p:cNvPr id="10" name="Shape 8"/>
          <p:cNvSpPr/>
          <p:nvPr/>
        </p:nvSpPr>
        <p:spPr>
          <a:xfrm>
            <a:off x="4368691" y="3587155"/>
            <a:ext cx="3454314" cy="19050"/>
          </a:xfrm>
          <a:prstGeom prst="rect">
            <a:avLst/>
          </a:prstGeom>
          <a:solidFill>
            <a:srgbClr val="1A1A8C"/>
          </a:solidFill>
          <a:ln/>
        </p:spPr>
      </p:sp>
      <p:sp>
        <p:nvSpPr>
          <p:cNvPr id="11" name="Text 9"/>
          <p:cNvSpPr/>
          <p:nvPr/>
        </p:nvSpPr>
        <p:spPr>
          <a:xfrm>
            <a:off x="4368691" y="3758605"/>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Preserve class diversity</a:t>
            </a:r>
            <a:endParaRPr lang="en-US" sz="2300" dirty="0"/>
          </a:p>
        </p:txBody>
      </p:sp>
      <p:sp>
        <p:nvSpPr>
          <p:cNvPr id="12" name="Text 10"/>
          <p:cNvSpPr/>
          <p:nvPr/>
        </p:nvSpPr>
        <p:spPr>
          <a:xfrm>
            <a:off x="4368691" y="4208562"/>
            <a:ext cx="3454314"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Broaden the patterns available to an intrusion-detection model.</a:t>
            </a:r>
            <a:endParaRPr lang="en-US" sz="2000" dirty="0"/>
          </a:p>
        </p:txBody>
      </p:sp>
      <p:sp>
        <p:nvSpPr>
          <p:cNvPr id="13" name="Text 11"/>
          <p:cNvSpPr/>
          <p:nvPr/>
        </p:nvSpPr>
        <p:spPr>
          <a:xfrm>
            <a:off x="8127797" y="3231555"/>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03</a:t>
            </a:r>
            <a:endParaRPr lang="en-US" sz="2000" dirty="0"/>
          </a:p>
        </p:txBody>
      </p:sp>
      <p:sp>
        <p:nvSpPr>
          <p:cNvPr id="14" name="Shape 12"/>
          <p:cNvSpPr/>
          <p:nvPr/>
        </p:nvSpPr>
        <p:spPr>
          <a:xfrm>
            <a:off x="8127797" y="3587155"/>
            <a:ext cx="3454314" cy="19050"/>
          </a:xfrm>
          <a:prstGeom prst="rect">
            <a:avLst/>
          </a:prstGeom>
          <a:solidFill>
            <a:srgbClr val="1A1A8C"/>
          </a:solidFill>
          <a:ln/>
        </p:spPr>
      </p:sp>
      <p:sp>
        <p:nvSpPr>
          <p:cNvPr id="15" name="Text 13"/>
          <p:cNvSpPr/>
          <p:nvPr/>
        </p:nvSpPr>
        <p:spPr>
          <a:xfrm>
            <a:off x="8127797" y="3758605"/>
            <a:ext cx="3454314"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Assess privacy first</a:t>
            </a:r>
            <a:endParaRPr lang="en-US" sz="2300" dirty="0"/>
          </a:p>
        </p:txBody>
      </p:sp>
      <p:sp>
        <p:nvSpPr>
          <p:cNvPr id="16" name="Text 14"/>
          <p:cNvSpPr/>
          <p:nvPr/>
        </p:nvSpPr>
        <p:spPr>
          <a:xfrm>
            <a:off x="8127797" y="4208562"/>
            <a:ext cx="3454314"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Check membership risk before records enter IDS augmentation.</a:t>
            </a:r>
            <a:endParaRPr lang="en-US" sz="2000" dirty="0"/>
          </a:p>
        </p:txBody>
      </p:sp>
      <p:sp>
        <p:nvSpPr>
          <p:cNvPr id="17" name="Text 15"/>
          <p:cNvSpPr/>
          <p:nvPr/>
        </p:nvSpPr>
        <p:spPr>
          <a:xfrm>
            <a:off x="609585" y="4998343"/>
            <a:ext cx="11582110" cy="251916"/>
          </a:xfrm>
          <a:prstGeom prst="rect">
            <a:avLst/>
          </a:prstGeom>
          <a:noFill/>
          <a:ln/>
        </p:spPr>
        <p:txBody>
          <a:bodyPr wrap="none" lIns="0" tIns="0" rIns="0" bIns="0" rtlCol="0" anchor="t"/>
          <a:lstStyle/>
          <a:p>
            <a:pPr marL="0" indent="0" algn="l">
              <a:lnSpc>
                <a:spcPct val="103000"/>
              </a:lnSpc>
              <a:buNone/>
            </a:pPr>
            <a:r>
              <a:rPr lang="en-US" sz="1600" dirty="0">
                <a:solidFill>
                  <a:srgbClr val="0C0C0C"/>
                </a:solidFill>
                <a:latin typeface="Tinos" pitchFamily="34" charset="0"/>
                <a:ea typeface="Tinos" pitchFamily="34" charset="-122"/>
                <a:cs typeface="Tinos" pitchFamily="34" charset="-120"/>
              </a:rPr>
              <a:t>The goal is not synthetic volume alone. It is useful coverage with a defensible privacy decision.</a:t>
            </a:r>
            <a:endParaRPr lang="en-US" sz="1600" dirty="0"/>
          </a:p>
        </p:txBody>
      </p:sp>
      <p:sp>
        <p:nvSpPr>
          <p:cNvPr id="18" name="Text 16"/>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19" name="Text 17"/>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7</a:t>
            </a:r>
            <a:endParaRPr lang="en-US" sz="1400" dirty="0"/>
          </a:p>
        </p:txBody>
      </p:sp>
      <p:pic>
        <p:nvPicPr>
          <p:cNvPr id="20" name="Picture 19">
            <a:extLst>
              <a:ext uri="{FF2B5EF4-FFF2-40B4-BE49-F238E27FC236}">
                <a16:creationId xmlns:a16="http://schemas.microsoft.com/office/drawing/2014/main" id="{0AE9F33D-891B-1B4E-8720-AB40BB5034FE}"/>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07 · SYNTHGUARD</a:t>
            </a:r>
            <a:endParaRPr lang="en-US" sz="1450" dirty="0"/>
          </a:p>
        </p:txBody>
      </p:sp>
      <p:sp>
        <p:nvSpPr>
          <p:cNvPr id="3" name="Text 1"/>
          <p:cNvSpPr/>
          <p:nvPr/>
        </p:nvSpPr>
        <p:spPr>
          <a:xfrm>
            <a:off x="609585" y="890389"/>
            <a:ext cx="10972526" cy="397669"/>
          </a:xfrm>
          <a:prstGeom prst="rect">
            <a:avLst/>
          </a:prstGeom>
          <a:noFill/>
          <a:ln/>
        </p:spPr>
        <p:txBody>
          <a:bodyPr wrap="none" lIns="0" tIns="0" rIns="0" bIns="0" rtlCol="0" anchor="t"/>
          <a:lstStyle/>
          <a:p>
            <a:pPr marL="0" indent="0" algn="l">
              <a:lnSpc>
                <a:spcPct val="90000"/>
              </a:lnSpc>
              <a:buNone/>
            </a:pPr>
            <a:r>
              <a:rPr lang="en-US" sz="2900" b="1" kern="0" spc="-23" dirty="0">
                <a:solidFill>
                  <a:srgbClr val="0C0C0C"/>
                </a:solidFill>
                <a:latin typeface="Tinos Bold" pitchFamily="34" charset="0"/>
                <a:ea typeface="Tinos Bold" pitchFamily="34" charset="-122"/>
                <a:cs typeface="Tinos Bold" pitchFamily="34" charset="-120"/>
              </a:rPr>
              <a:t>SynthGuard adds risk differentiation to synthetic data generation</a:t>
            </a:r>
            <a:endParaRPr lang="en-US" sz="2900" dirty="0"/>
          </a:p>
        </p:txBody>
      </p:sp>
      <p:sp>
        <p:nvSpPr>
          <p:cNvPr id="4" name="Text 2"/>
          <p:cNvSpPr/>
          <p:nvPr/>
        </p:nvSpPr>
        <p:spPr>
          <a:xfrm>
            <a:off x="609585" y="1443633"/>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01</a:t>
            </a:r>
            <a:endParaRPr lang="en-US" sz="2000" dirty="0"/>
          </a:p>
        </p:txBody>
      </p:sp>
      <p:sp>
        <p:nvSpPr>
          <p:cNvPr id="5" name="Shape 3"/>
          <p:cNvSpPr/>
          <p:nvPr/>
        </p:nvSpPr>
        <p:spPr>
          <a:xfrm>
            <a:off x="609585" y="1799233"/>
            <a:ext cx="2072529" cy="19050"/>
          </a:xfrm>
          <a:prstGeom prst="rect">
            <a:avLst/>
          </a:prstGeom>
          <a:solidFill>
            <a:srgbClr val="1A1A8C"/>
          </a:solidFill>
          <a:ln/>
        </p:spPr>
      </p:sp>
      <p:sp>
        <p:nvSpPr>
          <p:cNvPr id="6" name="Text 4"/>
          <p:cNvSpPr/>
          <p:nvPr/>
        </p:nvSpPr>
        <p:spPr>
          <a:xfrm>
            <a:off x="609585" y="1970683"/>
            <a:ext cx="2072628"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Cybersecurity data</a:t>
            </a:r>
            <a:endParaRPr lang="en-US" sz="2300" dirty="0"/>
          </a:p>
        </p:txBody>
      </p:sp>
      <p:sp>
        <p:nvSpPr>
          <p:cNvPr id="7" name="Text 5"/>
          <p:cNvSpPr/>
          <p:nvPr/>
        </p:nvSpPr>
        <p:spPr>
          <a:xfrm>
            <a:off x="609585" y="2759472"/>
            <a:ext cx="2072628"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Network traffic and IDS records.</a:t>
            </a:r>
            <a:endParaRPr lang="en-US" sz="2000" dirty="0"/>
          </a:p>
        </p:txBody>
      </p:sp>
      <p:sp>
        <p:nvSpPr>
          <p:cNvPr id="8" name="Text 6"/>
          <p:cNvSpPr/>
          <p:nvPr/>
        </p:nvSpPr>
        <p:spPr>
          <a:xfrm>
            <a:off x="2834510" y="1443633"/>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02</a:t>
            </a:r>
            <a:endParaRPr lang="en-US" sz="2000" dirty="0"/>
          </a:p>
        </p:txBody>
      </p:sp>
      <p:sp>
        <p:nvSpPr>
          <p:cNvPr id="9" name="Shape 7"/>
          <p:cNvSpPr/>
          <p:nvPr/>
        </p:nvSpPr>
        <p:spPr>
          <a:xfrm>
            <a:off x="2834510" y="1799233"/>
            <a:ext cx="2072529" cy="19050"/>
          </a:xfrm>
          <a:prstGeom prst="rect">
            <a:avLst/>
          </a:prstGeom>
          <a:solidFill>
            <a:srgbClr val="1A1A8C"/>
          </a:solidFill>
          <a:ln/>
        </p:spPr>
      </p:sp>
      <p:sp>
        <p:nvSpPr>
          <p:cNvPr id="10" name="Text 8"/>
          <p:cNvSpPr/>
          <p:nvPr/>
        </p:nvSpPr>
        <p:spPr>
          <a:xfrm>
            <a:off x="2834510" y="1970683"/>
            <a:ext cx="2072628"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Synthetic generator</a:t>
            </a:r>
            <a:endParaRPr lang="en-US" sz="2300" dirty="0"/>
          </a:p>
        </p:txBody>
      </p:sp>
      <p:sp>
        <p:nvSpPr>
          <p:cNvPr id="11" name="Text 9"/>
          <p:cNvSpPr/>
          <p:nvPr/>
        </p:nvSpPr>
        <p:spPr>
          <a:xfrm>
            <a:off x="2834510" y="2759472"/>
            <a:ext cx="2072628"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Learn structure and produce candidates.</a:t>
            </a:r>
            <a:endParaRPr lang="en-US" sz="2000" dirty="0"/>
          </a:p>
        </p:txBody>
      </p:sp>
      <p:sp>
        <p:nvSpPr>
          <p:cNvPr id="12" name="Text 10"/>
          <p:cNvSpPr/>
          <p:nvPr/>
        </p:nvSpPr>
        <p:spPr>
          <a:xfrm>
            <a:off x="5059434" y="1443633"/>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03</a:t>
            </a:r>
            <a:endParaRPr lang="en-US" sz="2000" dirty="0"/>
          </a:p>
        </p:txBody>
      </p:sp>
      <p:sp>
        <p:nvSpPr>
          <p:cNvPr id="13" name="Shape 11"/>
          <p:cNvSpPr/>
          <p:nvPr/>
        </p:nvSpPr>
        <p:spPr>
          <a:xfrm>
            <a:off x="5059434" y="1799233"/>
            <a:ext cx="2072727" cy="19050"/>
          </a:xfrm>
          <a:prstGeom prst="rect">
            <a:avLst/>
          </a:prstGeom>
          <a:solidFill>
            <a:srgbClr val="1A1A8C"/>
          </a:solidFill>
          <a:ln/>
        </p:spPr>
      </p:sp>
      <p:sp>
        <p:nvSpPr>
          <p:cNvPr id="14" name="Text 12"/>
          <p:cNvSpPr/>
          <p:nvPr/>
        </p:nvSpPr>
        <p:spPr>
          <a:xfrm>
            <a:off x="5059434" y="1970683"/>
            <a:ext cx="2072727"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Synthetic records</a:t>
            </a:r>
            <a:endParaRPr lang="en-US" sz="2300" dirty="0"/>
          </a:p>
        </p:txBody>
      </p:sp>
      <p:sp>
        <p:nvSpPr>
          <p:cNvPr id="15" name="Text 13"/>
          <p:cNvSpPr/>
          <p:nvPr/>
        </p:nvSpPr>
        <p:spPr>
          <a:xfrm>
            <a:off x="5059434" y="2759472"/>
            <a:ext cx="2072727"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New records for evaluation and use.</a:t>
            </a:r>
            <a:endParaRPr lang="en-US" sz="2000" dirty="0"/>
          </a:p>
        </p:txBody>
      </p:sp>
      <p:sp>
        <p:nvSpPr>
          <p:cNvPr id="16" name="Text 14"/>
          <p:cNvSpPr/>
          <p:nvPr/>
        </p:nvSpPr>
        <p:spPr>
          <a:xfrm>
            <a:off x="7284458" y="1443633"/>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04</a:t>
            </a:r>
            <a:endParaRPr lang="en-US" sz="2000" dirty="0"/>
          </a:p>
        </p:txBody>
      </p:sp>
      <p:sp>
        <p:nvSpPr>
          <p:cNvPr id="17" name="Shape 15"/>
          <p:cNvSpPr/>
          <p:nvPr/>
        </p:nvSpPr>
        <p:spPr>
          <a:xfrm>
            <a:off x="7284458" y="1799233"/>
            <a:ext cx="2072529" cy="19050"/>
          </a:xfrm>
          <a:prstGeom prst="rect">
            <a:avLst/>
          </a:prstGeom>
          <a:solidFill>
            <a:srgbClr val="1A1A8C"/>
          </a:solidFill>
          <a:ln/>
        </p:spPr>
      </p:sp>
      <p:sp>
        <p:nvSpPr>
          <p:cNvPr id="18" name="Text 16"/>
          <p:cNvSpPr/>
          <p:nvPr/>
        </p:nvSpPr>
        <p:spPr>
          <a:xfrm>
            <a:off x="7284458" y="1970683"/>
            <a:ext cx="2072628"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MIA risk scoring</a:t>
            </a:r>
            <a:endParaRPr lang="en-US" sz="2300" dirty="0"/>
          </a:p>
        </p:txBody>
      </p:sp>
      <p:sp>
        <p:nvSpPr>
          <p:cNvPr id="19" name="Text 17"/>
          <p:cNvSpPr/>
          <p:nvPr/>
        </p:nvSpPr>
        <p:spPr>
          <a:xfrm>
            <a:off x="7284458" y="2759472"/>
            <a:ext cx="2072628"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Estimate record-level leakage.</a:t>
            </a:r>
            <a:endParaRPr lang="en-US" sz="2000" dirty="0"/>
          </a:p>
        </p:txBody>
      </p:sp>
      <p:sp>
        <p:nvSpPr>
          <p:cNvPr id="20" name="Text 18"/>
          <p:cNvSpPr/>
          <p:nvPr/>
        </p:nvSpPr>
        <p:spPr>
          <a:xfrm>
            <a:off x="9509383" y="1443633"/>
            <a:ext cx="863578" cy="254000"/>
          </a:xfrm>
          <a:prstGeom prst="rect">
            <a:avLst/>
          </a:prstGeom>
          <a:noFill/>
          <a:ln/>
        </p:spPr>
        <p:txBody>
          <a:bodyPr wrap="none" lIns="0" tIns="0" rIns="0" bIns="0" rtlCol="0" anchor="t"/>
          <a:lstStyle/>
          <a:p>
            <a:pPr marL="0" indent="0" algn="l">
              <a:lnSpc>
                <a:spcPct val="83000"/>
              </a:lnSpc>
              <a:buNone/>
            </a:pPr>
            <a:r>
              <a:rPr lang="en-US" sz="2000" b="1" dirty="0">
                <a:solidFill>
                  <a:srgbClr val="1A1A8C"/>
                </a:solidFill>
                <a:latin typeface="Tinos Bold" pitchFamily="34" charset="0"/>
                <a:ea typeface="Tinos Bold" pitchFamily="34" charset="-122"/>
                <a:cs typeface="Tinos Bold" pitchFamily="34" charset="-120"/>
              </a:rPr>
              <a:t>05</a:t>
            </a:r>
            <a:endParaRPr lang="en-US" sz="2000" dirty="0"/>
          </a:p>
        </p:txBody>
      </p:sp>
      <p:sp>
        <p:nvSpPr>
          <p:cNvPr id="21" name="Shape 19"/>
          <p:cNvSpPr/>
          <p:nvPr/>
        </p:nvSpPr>
        <p:spPr>
          <a:xfrm>
            <a:off x="9509383" y="1799233"/>
            <a:ext cx="2072727" cy="19050"/>
          </a:xfrm>
          <a:prstGeom prst="rect">
            <a:avLst/>
          </a:prstGeom>
          <a:solidFill>
            <a:srgbClr val="1A1A8C"/>
          </a:solidFill>
          <a:ln/>
        </p:spPr>
      </p:sp>
      <p:sp>
        <p:nvSpPr>
          <p:cNvPr id="22" name="Text 20"/>
          <p:cNvSpPr/>
          <p:nvPr/>
        </p:nvSpPr>
        <p:spPr>
          <a:xfrm>
            <a:off x="9509383" y="1970683"/>
            <a:ext cx="2072727" cy="677664"/>
          </a:xfrm>
          <a:prstGeom prst="rect">
            <a:avLst/>
          </a:prstGeom>
          <a:noFill/>
          <a:ln/>
        </p:spPr>
        <p:txBody>
          <a:bodyPr wrap="square" lIns="0" tIns="0" rIns="0" bIns="0" rtlCol="0" anchor="t">
            <a:normAutofit lnSpcReduction="10000"/>
          </a:bodyPr>
          <a:lstStyle/>
          <a:p>
            <a:pPr marL="0" indent="0" algn="l">
              <a:lnSpc>
                <a:spcPct val="97000"/>
              </a:lnSpc>
              <a:buNone/>
            </a:pPr>
            <a:r>
              <a:rPr lang="en-US" sz="2300" b="1" kern="0" spc="-5" dirty="0">
                <a:solidFill>
                  <a:srgbClr val="0C0C0C"/>
                </a:solidFill>
                <a:latin typeface="Tinos Bold" pitchFamily="34" charset="0"/>
                <a:ea typeface="Tinos Bold" pitchFamily="34" charset="-122"/>
                <a:cs typeface="Tinos Bold" pitchFamily="34" charset="-120"/>
              </a:rPr>
              <a:t>Risk partitioning</a:t>
            </a:r>
            <a:endParaRPr lang="en-US" sz="2300" dirty="0"/>
          </a:p>
        </p:txBody>
      </p:sp>
      <p:sp>
        <p:nvSpPr>
          <p:cNvPr id="23" name="Text 21"/>
          <p:cNvSpPr/>
          <p:nvPr/>
        </p:nvSpPr>
        <p:spPr>
          <a:xfrm>
            <a:off x="9509383" y="2759472"/>
            <a:ext cx="2072727"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C0C0C"/>
                </a:solidFill>
                <a:latin typeface="Tinos" pitchFamily="34" charset="0"/>
                <a:ea typeface="Tinos" pitchFamily="34" charset="-122"/>
                <a:cs typeface="Tinos" pitchFamily="34" charset="-120"/>
              </a:rPr>
              <a:t>Separate decisions by measured risk.</a:t>
            </a:r>
            <a:endParaRPr lang="en-US" sz="2000" dirty="0"/>
          </a:p>
        </p:txBody>
      </p:sp>
      <p:sp>
        <p:nvSpPr>
          <p:cNvPr id="24" name="Shape 22"/>
          <p:cNvSpPr/>
          <p:nvPr/>
        </p:nvSpPr>
        <p:spPr>
          <a:xfrm>
            <a:off x="609585" y="3611166"/>
            <a:ext cx="10972526" cy="31651"/>
          </a:xfrm>
          <a:prstGeom prst="roundRect">
            <a:avLst>
              <a:gd name="adj" fmla="val 49998"/>
            </a:avLst>
          </a:prstGeom>
          <a:solidFill>
            <a:srgbClr val="000000">
              <a:alpha val="8000"/>
            </a:srgbClr>
          </a:solidFill>
          <a:ln/>
        </p:spPr>
      </p:sp>
      <p:sp>
        <p:nvSpPr>
          <p:cNvPr id="25" name="Shape 23"/>
          <p:cNvSpPr/>
          <p:nvPr/>
        </p:nvSpPr>
        <p:spPr>
          <a:xfrm>
            <a:off x="609585" y="3844528"/>
            <a:ext cx="5333867" cy="1838027"/>
          </a:xfrm>
          <a:prstGeom prst="rect">
            <a:avLst/>
          </a:prstGeom>
          <a:solidFill>
            <a:srgbClr val="F5EAEA"/>
          </a:solidFill>
          <a:ln/>
        </p:spPr>
      </p:sp>
      <p:sp>
        <p:nvSpPr>
          <p:cNvPr id="26" name="Text 24"/>
          <p:cNvSpPr/>
          <p:nvPr/>
        </p:nvSpPr>
        <p:spPr>
          <a:xfrm>
            <a:off x="838179" y="4073128"/>
            <a:ext cx="5105272"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B42318"/>
                </a:solidFill>
                <a:latin typeface="JetBrains Mono Medium" pitchFamily="34" charset="0"/>
                <a:ea typeface="JetBrains Mono Medium" pitchFamily="34" charset="-122"/>
                <a:cs typeface="JetBrains Mono Medium" pitchFamily="34" charset="-120"/>
              </a:rPr>
              <a:t>HIGHER RISK</a:t>
            </a:r>
            <a:endParaRPr lang="en-US" sz="1450" dirty="0"/>
          </a:p>
        </p:txBody>
      </p:sp>
      <p:sp>
        <p:nvSpPr>
          <p:cNvPr id="27" name="Text 25"/>
          <p:cNvSpPr/>
          <p:nvPr/>
        </p:nvSpPr>
        <p:spPr>
          <a:xfrm>
            <a:off x="838179" y="4353917"/>
            <a:ext cx="4876678"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00000"/>
                </a:solidFill>
                <a:latin typeface="Tinos Bold" pitchFamily="34" charset="0"/>
                <a:ea typeface="Tinos Bold" pitchFamily="34" charset="-122"/>
                <a:cs typeface="Tinos Bold" pitchFamily="34" charset="-120"/>
              </a:rPr>
              <a:t>Filter / regenerate</a:t>
            </a:r>
            <a:endParaRPr lang="en-US" sz="2300" dirty="0"/>
          </a:p>
        </p:txBody>
      </p:sp>
      <p:sp>
        <p:nvSpPr>
          <p:cNvPr id="28" name="Text 26"/>
          <p:cNvSpPr/>
          <p:nvPr/>
        </p:nvSpPr>
        <p:spPr>
          <a:xfrm>
            <a:off x="838179" y="4803874"/>
            <a:ext cx="4876678"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00000"/>
                </a:solidFill>
                <a:latin typeface="Tinos" pitchFamily="34" charset="0"/>
                <a:ea typeface="Tinos" pitchFamily="34" charset="-122"/>
                <a:cs typeface="Tinos" pitchFamily="34" charset="-120"/>
              </a:rPr>
              <a:t>Do not pass records forward automatically. Remove them or generate alternatives.</a:t>
            </a:r>
            <a:endParaRPr lang="en-US" sz="2000" dirty="0"/>
          </a:p>
        </p:txBody>
      </p:sp>
      <p:sp>
        <p:nvSpPr>
          <p:cNvPr id="29" name="Shape 27"/>
          <p:cNvSpPr/>
          <p:nvPr/>
        </p:nvSpPr>
        <p:spPr>
          <a:xfrm>
            <a:off x="6248244" y="3844528"/>
            <a:ext cx="5333867" cy="1838027"/>
          </a:xfrm>
          <a:prstGeom prst="rect">
            <a:avLst/>
          </a:prstGeom>
          <a:solidFill>
            <a:srgbClr val="E9EEFB"/>
          </a:solidFill>
          <a:ln/>
        </p:spPr>
      </p:sp>
      <p:sp>
        <p:nvSpPr>
          <p:cNvPr id="30" name="Text 28"/>
          <p:cNvSpPr/>
          <p:nvPr/>
        </p:nvSpPr>
        <p:spPr>
          <a:xfrm>
            <a:off x="6476838" y="4073128"/>
            <a:ext cx="5105272" cy="217289"/>
          </a:xfrm>
          <a:prstGeom prst="rect">
            <a:avLst/>
          </a:prstGeom>
          <a:noFill/>
          <a:ln/>
        </p:spPr>
        <p:txBody>
          <a:bodyPr wrap="none" lIns="0" tIns="0" rIns="0" bIns="0" rtlCol="0" anchor="t"/>
          <a:lstStyle/>
          <a:p>
            <a:pPr marL="0" indent="0" algn="l">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LOWER RISK</a:t>
            </a:r>
            <a:endParaRPr lang="en-US" sz="1450" dirty="0"/>
          </a:p>
        </p:txBody>
      </p:sp>
      <p:sp>
        <p:nvSpPr>
          <p:cNvPr id="31" name="Text 29"/>
          <p:cNvSpPr/>
          <p:nvPr/>
        </p:nvSpPr>
        <p:spPr>
          <a:xfrm>
            <a:off x="6476838" y="4353917"/>
            <a:ext cx="4876678" cy="338832"/>
          </a:xfrm>
          <a:prstGeom prst="rect">
            <a:avLst/>
          </a:prstGeom>
          <a:noFill/>
          <a:ln/>
        </p:spPr>
        <p:txBody>
          <a:bodyPr wrap="none" lIns="0" tIns="0" rIns="0" bIns="0" rtlCol="0" anchor="t"/>
          <a:lstStyle/>
          <a:p>
            <a:pPr marL="0" indent="0" algn="l">
              <a:lnSpc>
                <a:spcPct val="97000"/>
              </a:lnSpc>
              <a:buNone/>
            </a:pPr>
            <a:r>
              <a:rPr lang="en-US" sz="2300" b="1" kern="0" spc="-5" dirty="0">
                <a:solidFill>
                  <a:srgbClr val="000000"/>
                </a:solidFill>
                <a:latin typeface="Tinos Bold" pitchFamily="34" charset="0"/>
                <a:ea typeface="Tinos Bold" pitchFamily="34" charset="-122"/>
                <a:cs typeface="Tinos Bold" pitchFamily="34" charset="-120"/>
              </a:rPr>
              <a:t>Retain for IDS augmentation</a:t>
            </a:r>
            <a:endParaRPr lang="en-US" sz="2300" dirty="0"/>
          </a:p>
        </p:txBody>
      </p:sp>
      <p:sp>
        <p:nvSpPr>
          <p:cNvPr id="32" name="Text 30"/>
          <p:cNvSpPr/>
          <p:nvPr/>
        </p:nvSpPr>
        <p:spPr>
          <a:xfrm>
            <a:off x="6476838" y="4803874"/>
            <a:ext cx="4876678" cy="650081"/>
          </a:xfrm>
          <a:prstGeom prst="rect">
            <a:avLst/>
          </a:prstGeom>
          <a:noFill/>
          <a:ln/>
        </p:spPr>
        <p:txBody>
          <a:bodyPr wrap="square" lIns="0" tIns="0" rIns="0" bIns="0" rtlCol="0" anchor="t">
            <a:normAutofit/>
          </a:bodyPr>
          <a:lstStyle/>
          <a:p>
            <a:pPr marL="0" indent="0" algn="l">
              <a:lnSpc>
                <a:spcPct val="107000"/>
              </a:lnSpc>
              <a:buNone/>
            </a:pPr>
            <a:r>
              <a:rPr lang="en-US" sz="2000" dirty="0">
                <a:solidFill>
                  <a:srgbClr val="000000"/>
                </a:solidFill>
                <a:latin typeface="Tinos" pitchFamily="34" charset="0"/>
                <a:ea typeface="Tinos" pitchFamily="34" charset="-122"/>
                <a:cs typeface="Tinos" pitchFamily="34" charset="-120"/>
              </a:rPr>
              <a:t>Keep records that are useful for rare-attack coverage and lower in measured risk.</a:t>
            </a:r>
            <a:endParaRPr lang="en-US" sz="2000" dirty="0"/>
          </a:p>
        </p:txBody>
      </p:sp>
      <p:sp>
        <p:nvSpPr>
          <p:cNvPr id="33" name="Text 31"/>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34" name="Text 32"/>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8</a:t>
            </a:r>
            <a:endParaRPr lang="en-US" sz="1400" dirty="0"/>
          </a:p>
        </p:txBody>
      </p:sp>
      <p:pic>
        <p:nvPicPr>
          <p:cNvPr id="35" name="Picture 34">
            <a:extLst>
              <a:ext uri="{FF2B5EF4-FFF2-40B4-BE49-F238E27FC236}">
                <a16:creationId xmlns:a16="http://schemas.microsoft.com/office/drawing/2014/main" id="{3DDE0B9C-183B-840E-0463-0A1D72B4A011}"/>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09600"/>
            <a:ext cx="10972526" cy="386457"/>
          </a:xfrm>
          <a:prstGeom prst="rect">
            <a:avLst/>
          </a:prstGeom>
          <a:noFill/>
          <a:ln/>
        </p:spPr>
        <p:txBody>
          <a:bodyPr wrap="none" lIns="0" tIns="0" rIns="0" bIns="0" rtlCol="0" anchor="t"/>
          <a:lstStyle/>
          <a:p>
            <a:pPr marL="0" indent="0" algn="l">
              <a:lnSpc>
                <a:spcPct val="90000"/>
              </a:lnSpc>
              <a:buNone/>
            </a:pPr>
            <a:r>
              <a:rPr lang="en-US" sz="2800" b="1" kern="0" spc="-23" dirty="0">
                <a:solidFill>
                  <a:srgbClr val="0C0C0C"/>
                </a:solidFill>
                <a:latin typeface="Tinos Bold" pitchFamily="34" charset="0"/>
                <a:ea typeface="Tinos Bold" pitchFamily="34" charset="-122"/>
                <a:cs typeface="Tinos Bold" pitchFamily="34" charset="-120"/>
              </a:rPr>
              <a:t>SynthGuard progress summary</a:t>
            </a:r>
            <a:endParaRPr lang="en-US" sz="2800" dirty="0"/>
          </a:p>
        </p:txBody>
      </p:sp>
      <p:sp>
        <p:nvSpPr>
          <p:cNvPr id="3" name="Text 1"/>
          <p:cNvSpPr/>
          <p:nvPr/>
        </p:nvSpPr>
        <p:spPr>
          <a:xfrm>
            <a:off x="609585" y="1142901"/>
            <a:ext cx="11582110" cy="244773"/>
          </a:xfrm>
          <a:prstGeom prst="rect">
            <a:avLst/>
          </a:prstGeom>
          <a:noFill/>
          <a:ln/>
        </p:spPr>
        <p:txBody>
          <a:bodyPr wrap="none" lIns="0" tIns="0" rIns="0" bIns="0" rtlCol="0" anchor="t"/>
          <a:lstStyle/>
          <a:p>
            <a:pPr marL="0" indent="0" algn="l">
              <a:lnSpc>
                <a:spcPct val="103000"/>
              </a:lnSpc>
              <a:buNone/>
            </a:pPr>
            <a:r>
              <a:rPr lang="en-US" sz="1550" dirty="0">
                <a:solidFill>
                  <a:srgbClr val="0C0C0C"/>
                </a:solidFill>
                <a:latin typeface="Tinos" pitchFamily="34" charset="0"/>
                <a:ea typeface="Tinos" pitchFamily="34" charset="-122"/>
                <a:cs typeface="Tinos" pitchFamily="34" charset="-120"/>
              </a:rPr>
              <a:t>Illustrative workstreams grounded in the SynthGuard concept — not measured results</a:t>
            </a:r>
            <a:endParaRPr lang="en-US" sz="15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09585" y="1519535"/>
          <a:ext cx="10972526" cy="4775280"/>
        </p:xfrm>
        <a:graphic>
          <a:graphicData uri="http://schemas.openxmlformats.org/drawingml/2006/table">
            <a:tbl>
              <a:tblPr/>
              <a:tblGrid>
                <a:gridCol w="2413956">
                  <a:extLst>
                    <a:ext uri="{9D8B030D-6E8A-4147-A177-3AD203B41FA5}">
                      <a16:colId xmlns:a16="http://schemas.microsoft.com/office/drawing/2014/main" val="20000"/>
                    </a:ext>
                  </a:extLst>
                </a:gridCol>
                <a:gridCol w="3291758">
                  <a:extLst>
                    <a:ext uri="{9D8B030D-6E8A-4147-A177-3AD203B41FA5}">
                      <a16:colId xmlns:a16="http://schemas.microsoft.com/office/drawing/2014/main" val="20001"/>
                    </a:ext>
                  </a:extLst>
                </a:gridCol>
                <a:gridCol w="2194505">
                  <a:extLst>
                    <a:ext uri="{9D8B030D-6E8A-4147-A177-3AD203B41FA5}">
                      <a16:colId xmlns:a16="http://schemas.microsoft.com/office/drawing/2014/main" val="20002"/>
                    </a:ext>
                  </a:extLst>
                </a:gridCol>
                <a:gridCol w="3072307">
                  <a:extLst>
                    <a:ext uri="{9D8B030D-6E8A-4147-A177-3AD203B41FA5}">
                      <a16:colId xmlns:a16="http://schemas.microsoft.com/office/drawing/2014/main" val="20003"/>
                    </a:ext>
                  </a:extLst>
                </a:gridCol>
              </a:tblGrid>
              <a:tr h="521580">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Department</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Workstream</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Status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Next focus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0"/>
                  </a:ext>
                </a:extLst>
              </a:tr>
              <a:tr h="833020">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Data Science</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Define risk tiers for records and attack patterns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Framed</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Validate risk signals and evaluation plan</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1"/>
                  </a:ext>
                </a:extLst>
              </a:tr>
              <a:tr h="1144460">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Cyber Security</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Prioritize rare-attack IDS coverage and threat scenarios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Defined</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Stress-test synthetic augmentation against edge cases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2"/>
                  </a:ext>
                </a:extLst>
              </a:tr>
              <a:tr h="1144460">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AI</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Generate privacy-aware synthetic data with risk differentiation</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In progress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Compare utility and membership-inference exposure</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extLst>
                  <a:ext uri="{0D108BD9-81ED-4DB2-BD59-A6C34878D82A}">
                    <a16:rowId xmlns:a16="http://schemas.microsoft.com/office/drawing/2014/main" val="10003"/>
                  </a:ext>
                </a:extLst>
              </a:tr>
              <a:tr h="1131760">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Software Engineering</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Integrate the pipeline into a repeatable augmentation workflow</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Planned</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marL="0" indent="0" algn="l">
                        <a:buNone/>
                      </a:pPr>
                      <a:r>
                        <a:rPr lang="en-US" sz="1950" dirty="0">
                          <a:solidFill>
                            <a:srgbClr val="0C0C0C"/>
                          </a:solidFill>
                          <a:latin typeface="Tinos" pitchFamily="34" charset="0"/>
                          <a:ea typeface="Tinos" pitchFamily="34" charset="-122"/>
                          <a:cs typeface="Tinos" pitchFamily="34" charset="-120"/>
                        </a:rPr>
                        <a:t>Specify interfaces, monitoring, and deployment checks</a:t>
                      </a:r>
                      <a:endParaRPr lang="en-US" sz="1950" dirty="0">
                        <a:latin typeface="Tinos" charset="0"/>
                        <a:ea typeface="Tinos" charset="0"/>
                        <a:cs typeface="Tinos" charset="0"/>
                      </a:endParaRPr>
                    </a:p>
                  </a:txBody>
                  <a:tcPr marL="185103" marR="185103" marT="98722" marB="9872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609585" y="6528296"/>
            <a:ext cx="4209845"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Preliminary Insight: From CTGAN to SynthGuard</a:t>
            </a:r>
            <a:endParaRPr lang="en-US" sz="1400" dirty="0"/>
          </a:p>
        </p:txBody>
      </p:sp>
      <p:sp>
        <p:nvSpPr>
          <p:cNvPr id="6" name="Text 3"/>
          <p:cNvSpPr/>
          <p:nvPr/>
        </p:nvSpPr>
        <p:spPr>
          <a:xfrm>
            <a:off x="11493212" y="6528296"/>
            <a:ext cx="698483" cy="227509"/>
          </a:xfrm>
          <a:prstGeom prst="rect">
            <a:avLst/>
          </a:prstGeom>
          <a:noFill/>
          <a:ln/>
        </p:spPr>
        <p:txBody>
          <a:bodyPr wrap="none" lIns="0" tIns="0" rIns="0" bIns="0" rtlCol="0" anchor="ctr"/>
          <a:lstStyle/>
          <a:p>
            <a:pPr marL="0" indent="0" algn="l">
              <a:lnSpc>
                <a:spcPct val="107000"/>
              </a:lnSpc>
              <a:buNone/>
            </a:pPr>
            <a:r>
              <a:rPr lang="en-US" sz="1400" dirty="0">
                <a:solidFill>
                  <a:srgbClr val="0C0C0C"/>
                </a:solidFill>
                <a:latin typeface="Tinos" pitchFamily="34" charset="0"/>
                <a:ea typeface="Tinos" pitchFamily="34" charset="-122"/>
                <a:cs typeface="Tinos" pitchFamily="34" charset="-120"/>
              </a:rPr>
              <a:t>9</a:t>
            </a:r>
            <a:endParaRPr lang="en-US" sz="1400" dirty="0"/>
          </a:p>
        </p:txBody>
      </p:sp>
      <p:pic>
        <p:nvPicPr>
          <p:cNvPr id="4" name="Picture 3">
            <a:extLst>
              <a:ext uri="{FF2B5EF4-FFF2-40B4-BE49-F238E27FC236}">
                <a16:creationId xmlns:a16="http://schemas.microsoft.com/office/drawing/2014/main" id="{D5D8508E-EB82-E9A1-7BB7-C3B04273EE13}"/>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967956" y="2170113"/>
            <a:ext cx="4255683" cy="217289"/>
          </a:xfrm>
          <a:prstGeom prst="rect">
            <a:avLst/>
          </a:prstGeom>
          <a:noFill/>
          <a:ln/>
        </p:spPr>
        <p:txBody>
          <a:bodyPr wrap="none" lIns="0" tIns="0" rIns="0" bIns="0" rtlCol="0" anchor="t"/>
          <a:lstStyle/>
          <a:p>
            <a:pPr marL="0" indent="0" algn="ctr">
              <a:lnSpc>
                <a:spcPct val="98000"/>
              </a:lnSpc>
              <a:buNone/>
            </a:pPr>
            <a:r>
              <a:rPr lang="en-US" sz="1450" kern="0" spc="87" dirty="0">
                <a:solidFill>
                  <a:srgbClr val="1A1A8C"/>
                </a:solidFill>
                <a:latin typeface="JetBrains Mono Medium" pitchFamily="34" charset="0"/>
                <a:ea typeface="JetBrains Mono Medium" pitchFamily="34" charset="-122"/>
                <a:cs typeface="JetBrains Mono Medium" pitchFamily="34" charset="-120"/>
              </a:rPr>
              <a:t>PRELIMINARY INSIGHT · TAKEAWAY</a:t>
            </a:r>
            <a:endParaRPr lang="en-US" sz="1450" dirty="0"/>
          </a:p>
        </p:txBody>
      </p:sp>
      <p:sp>
        <p:nvSpPr>
          <p:cNvPr id="3" name="Text 1"/>
          <p:cNvSpPr/>
          <p:nvPr/>
        </p:nvSpPr>
        <p:spPr>
          <a:xfrm>
            <a:off x="2039885" y="2441575"/>
            <a:ext cx="8111823" cy="987425"/>
          </a:xfrm>
          <a:prstGeom prst="rect">
            <a:avLst/>
          </a:prstGeom>
          <a:noFill/>
          <a:ln/>
        </p:spPr>
        <p:txBody>
          <a:bodyPr wrap="square" lIns="0" tIns="0" rIns="0" bIns="0" rtlCol="0" anchor="t">
            <a:normAutofit lnSpcReduction="10000"/>
          </a:bodyPr>
          <a:lstStyle/>
          <a:p>
            <a:pPr marL="0" indent="0" algn="ctr">
              <a:lnSpc>
                <a:spcPct val="90000"/>
              </a:lnSpc>
              <a:buNone/>
            </a:pPr>
            <a:r>
              <a:rPr lang="en-US" sz="3600" b="1" kern="0" spc="-29" dirty="0">
                <a:solidFill>
                  <a:srgbClr val="0C0C0C"/>
                </a:solidFill>
                <a:latin typeface="Tinos Bold" pitchFamily="34" charset="0"/>
                <a:ea typeface="Tinos Bold" pitchFamily="34" charset="-122"/>
                <a:cs typeface="Tinos Bold" pitchFamily="34" charset="-120"/>
              </a:rPr>
              <a:t>Generate useful synthetic data</a:t>
            </a:r>
            <a:endParaRPr lang="en-US" sz="3600" dirty="0"/>
          </a:p>
          <a:p>
            <a:pPr marL="0" indent="0" algn="ctr">
              <a:lnSpc>
                <a:spcPct val="90000"/>
              </a:lnSpc>
              <a:buNone/>
            </a:pPr>
            <a:r>
              <a:rPr lang="en-US" sz="3600" b="1" kern="0" spc="-29" dirty="0">
                <a:solidFill>
                  <a:srgbClr val="0C0C0C"/>
                </a:solidFill>
                <a:latin typeface="Tinos Bold" pitchFamily="34" charset="0"/>
                <a:ea typeface="Tinos Bold" pitchFamily="34" charset="-122"/>
                <a:cs typeface="Tinos Bold" pitchFamily="34" charset="-120"/>
              </a:rPr>
              <a:t>while protecting records according to risk</a:t>
            </a:r>
            <a:endParaRPr lang="en-US" sz="3600" dirty="0"/>
          </a:p>
        </p:txBody>
      </p:sp>
      <p:sp>
        <p:nvSpPr>
          <p:cNvPr id="4" name="Shape 2"/>
          <p:cNvSpPr/>
          <p:nvPr/>
        </p:nvSpPr>
        <p:spPr>
          <a:xfrm>
            <a:off x="1981150" y="3664744"/>
            <a:ext cx="8229394" cy="31651"/>
          </a:xfrm>
          <a:prstGeom prst="roundRect">
            <a:avLst>
              <a:gd name="adj" fmla="val 49998"/>
            </a:avLst>
          </a:prstGeom>
          <a:solidFill>
            <a:srgbClr val="0C0C0C"/>
          </a:solidFill>
          <a:ln/>
        </p:spPr>
      </p:sp>
      <p:sp>
        <p:nvSpPr>
          <p:cNvPr id="5" name="Text 3"/>
          <p:cNvSpPr/>
          <p:nvPr/>
        </p:nvSpPr>
        <p:spPr>
          <a:xfrm>
            <a:off x="1716739" y="3898106"/>
            <a:ext cx="8758118" cy="325041"/>
          </a:xfrm>
          <a:prstGeom prst="rect">
            <a:avLst/>
          </a:prstGeom>
          <a:noFill/>
          <a:ln/>
        </p:spPr>
        <p:txBody>
          <a:bodyPr wrap="none" lIns="0" tIns="0" rIns="0" bIns="0" rtlCol="0" anchor="t"/>
          <a:lstStyle/>
          <a:p>
            <a:pPr marL="0" indent="0" algn="ctr">
              <a:lnSpc>
                <a:spcPct val="107000"/>
              </a:lnSpc>
              <a:buNone/>
            </a:pPr>
            <a:r>
              <a:rPr lang="en-US" sz="2000" dirty="0">
                <a:solidFill>
                  <a:srgbClr val="1A1A8C"/>
                </a:solidFill>
                <a:latin typeface="Tinos" pitchFamily="34" charset="0"/>
                <a:ea typeface="Tinos" pitchFamily="34" charset="-122"/>
                <a:cs typeface="Tinos" pitchFamily="34" charset="-120"/>
              </a:rPr>
              <a:t>SynthGuard:</a:t>
            </a:r>
            <a:r>
              <a:rPr lang="en-US" sz="2000" dirty="0">
                <a:solidFill>
                  <a:srgbClr val="0C0C0C"/>
                </a:solidFill>
                <a:latin typeface="Tinos" pitchFamily="34" charset="0"/>
                <a:ea typeface="Tinos" pitchFamily="34" charset="-122"/>
                <a:cs typeface="Tinos" pitchFamily="34" charset="-120"/>
              </a:rPr>
              <a:t> risk-differentiated synthetic data augmentation for rare-attack IDS.</a:t>
            </a:r>
            <a:endParaRPr lang="en-US" sz="2000" dirty="0"/>
          </a:p>
        </p:txBody>
      </p:sp>
      <p:sp>
        <p:nvSpPr>
          <p:cNvPr id="6" name="Text 4"/>
          <p:cNvSpPr/>
          <p:nvPr/>
        </p:nvSpPr>
        <p:spPr>
          <a:xfrm>
            <a:off x="536462" y="4362847"/>
            <a:ext cx="11118770" cy="325041"/>
          </a:xfrm>
          <a:prstGeom prst="rect">
            <a:avLst/>
          </a:prstGeom>
          <a:noFill/>
          <a:ln/>
        </p:spPr>
        <p:txBody>
          <a:bodyPr wrap="none" lIns="0" tIns="0" rIns="0" bIns="0" rtlCol="0" anchor="t"/>
          <a:lstStyle/>
          <a:p>
            <a:pPr marL="0" indent="0" algn="ctr">
              <a:lnSpc>
                <a:spcPct val="107000"/>
              </a:lnSpc>
              <a:buNone/>
            </a:pPr>
            <a:r>
              <a:rPr lang="en-US" sz="2000" dirty="0">
                <a:solidFill>
                  <a:srgbClr val="0C0C0C"/>
                </a:solidFill>
                <a:latin typeface="Tinos" pitchFamily="34" charset="0"/>
                <a:ea typeface="Tinos" pitchFamily="34" charset="-122"/>
                <a:cs typeface="Tinos" pitchFamily="34" charset="-120"/>
              </a:rPr>
              <a:t>The central shift is from “synthetic data is safe” to “synthetic data earns its use through measured risk.”</a:t>
            </a:r>
            <a:endParaRPr lang="en-US" sz="2000" dirty="0"/>
          </a:p>
        </p:txBody>
      </p:sp>
      <p:pic>
        <p:nvPicPr>
          <p:cNvPr id="7" name="Picture 6">
            <a:extLst>
              <a:ext uri="{FF2B5EF4-FFF2-40B4-BE49-F238E27FC236}">
                <a16:creationId xmlns:a16="http://schemas.microsoft.com/office/drawing/2014/main" id="{DF346C35-78EC-3119-F408-BD00457D844F}"/>
              </a:ext>
            </a:extLst>
          </p:cNvPr>
          <p:cNvPicPr>
            <a:picLocks noChangeAspect="1"/>
          </p:cNvPicPr>
          <p:nvPr/>
        </p:nvPicPr>
        <p:blipFill>
          <a:blip r:embed="rId3"/>
          <a:stretch>
            <a:fillRect/>
          </a:stretch>
        </p:blipFill>
        <p:spPr>
          <a:xfrm>
            <a:off x="11099799" y="6264477"/>
            <a:ext cx="1006475" cy="5516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TotalTime>
  <Words>3137</Words>
  <Application>Microsoft Office PowerPoint</Application>
  <PresentationFormat>Widescreen</PresentationFormat>
  <Paragraphs>224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Tinos</vt:lpstr>
      <vt:lpstr>JetBrains Mono Medium</vt:lpstr>
      <vt:lpstr>Tinos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 Duc Thanh</dc:creator>
  <cp:lastModifiedBy>Le Duc Thanh</cp:lastModifiedBy>
  <cp:revision>4</cp:revision>
  <dcterms:created xsi:type="dcterms:W3CDTF">2026-10-01T01:51:58Z</dcterms:created>
  <dcterms:modified xsi:type="dcterms:W3CDTF">2026-10-01T03:48:03Z</dcterms:modified>
</cp:coreProperties>
</file>